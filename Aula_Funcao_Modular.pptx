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3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Abertura. Pergunte: alguém sabe o que significa o módulo de um número? Deixe responderem antes de passar.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Ponto-chave: módulo = distância. Por isso |−3| = |3| = 3. A definição por partes é só a forma algébrica dessa ideia; o “−x” assusta, mostre que ele transforma negativo em 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Respostas: |7| = 7; |−7| = 7; |0| = 0; |−2,5| = 2,5; |3 − 8| = |−5| = 5 (primeiro resolve dentro); |√2 − 2| = 2 − √2. A caixa da solução do último item aparece com um clique.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Peça para os alunos completarem a tabela antes de mostrar. Destaque que esse “V” é o molde de todas as funções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malha começa vazia: marque os pontos com a turma (x = 0, 1, 2, 3, 4 → y = −4, −2, 0, 2, 4). No clique, o gráfico pronto aparece por cima para conferir. Deixe a pergunta final em aberto: ela prepara o rebatimento.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Malha vazia para marcar os pontos: (−1, 5), (0, 0), (1, −3), (2, −4), (3, −3), (4, 0), (5, 5). No clique aparece a parábola pronta para conferência.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GIF em loop: mostra a reta e depois a parte negativa girando para cima. Pergunte: por que a parte de cima não muda? (porque o módulo de um número positivo é ele mesmo).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com o slide anterior: a regra do rebatimento vale para qualquer função dentro do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número fora do módulo é somado ao resultado final, então mexe no y. Tracejado: |x|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Pergunte onde fica o vértice de |x − 3|: muitos dizem −3. Resolva x − 3 = 0 → x = 3 para mostrar por que vai para a direita.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GIF passa por (2,1), (2,−2), (−3,−2), (−3,2), (1,3). Peça para a turma dizer a função antes de o rótulo aparecer.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Respostas: a) (4, 0), direita 4; b) (0, 3), sobe 3; c) (−1, −2), esquerda 1 e desce 2; d) (3, 1), direita 3 e sobe 1. O próximo slide mostra os gráficos.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Resposta D. 2x + 5 = 0 → x = −5/2 = −2,5: o vértice fica em (−2,5; 0) e o gráfico corta o eixo y em f(0) = 5. A) é |2x − 5|; B) −|2x − 5|; C) |2x + 4|; E) −|2x + 5|.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QR code abre https://grupo-foco.github.io/Listas/index.html, onde ficam a apresentação e a Lista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DA89E-B51C-4358-885E-9E5D14520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E5F490-26C9-4FF2-866B-7BD1E3711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2BCC17-C441-4146-B80E-F8FBE14E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7C8D24-4618-4C12-9780-C8B0DDA9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B624FD-7E9F-4C41-A98C-5D473375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09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471EA-777C-4FF1-B340-9F4B28CA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E74396-48C4-43F3-A88C-0E7695B19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957A99-F168-434B-B970-FB22F215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90781F-4E32-42FF-AFF0-695C536C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9E75AC-9B33-49F4-A6C1-124F70F1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265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86E9C-4D7F-4946-A11F-12EE3881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8A6482-BA6F-4541-9ABD-5BE376565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A174A5-2C49-413E-9EC6-D7AA0BC79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FBECCE-693B-41DD-9B74-86EA6036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8F6744-6EC9-4AA4-B4C1-2497EAF2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54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6C003-4B3D-43A1-B20C-020FDB7B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92763E-498A-4E23-A38B-A5F0EE954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26DAA8-9968-482D-BAC5-A7D721EB3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BA1D9B-2FDB-4749-B2BA-CCD66753B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022892-E37D-44D7-93B5-DCC9D1C2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26C132-F38B-4288-A841-5DEA0FC1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24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0E483-1D15-4492-8078-D65355B8C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107A48-CAF0-47D0-A0FB-8CF7DD4C0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BE6738-71D9-4472-BFCF-75670DBA4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8ADE1A-6941-4726-80B2-11DAA45D6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CE548A-FB5A-43F1-80A4-B46503EF4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3CDCE8-0ABC-42C7-9107-D23F2CE8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35C2982-A2CD-4BCE-A685-8FBA4A6B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0D9613-0911-476F-9B57-FB593E4CF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4281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DC863-85E5-4F44-A019-F90DC6880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3AA7DF-8AAC-4D53-99C2-A1DD09FF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EAF71B-BB45-4DD0-8D9A-6BA356963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BFE26E8-01F6-4991-9B87-CD3094C3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913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C85F117-7372-4D47-A43F-62033815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2F62E6-19A7-421A-BAD7-8707915D5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1F7DB7-CD49-449A-973A-153BAE99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188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91493-7465-4610-B398-6D14DA2FC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10CBE0-22CD-4965-9FAC-82497A745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702AFA-78C7-474B-8289-E549C930A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9C01CB-919F-4AE5-A77F-58439B3F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619C6C-130B-42F0-8C3C-98BE51A50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65A346-7AC4-432E-A00A-1B13DD1C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5724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AC7FB-4D00-4813-81D0-70DD8E128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E47C94-D52C-44A5-87C7-82AFE4AC9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E57523-7FEB-44B9-A066-9B2635167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D8F0E5-6C48-489C-95A1-4012477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AB0634-A235-477E-90AA-2914AEA9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8EAEDA-0A5F-4FEF-B6FD-B80A253E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6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F5CB9-88A6-448E-8022-A73F9A75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168BAE-F3D2-4FF7-92C8-14FAA4B9A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EC32A8-7A94-40E3-9D77-5C73A8955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1EB01F-2252-48CE-91D8-388C7B56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FB7B58-5472-4CF7-9DDB-800C48C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938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CC5036-55CC-4489-90C2-2B01C1CEB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25EBFD-95BC-41EB-992E-AF1C02774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D641C6-F7C5-4C15-AB6C-638DF486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15B1E-A2E4-4470-8BB6-9248637D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C9FB7D-367F-4235-BA3D-6B9A1D10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487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83D3FD6F-77C1-854A-9E1E-97CF9793F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3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BE49705-4511-43A5-9375-616169F1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7C9B27-3835-4E0F-915D-6A43A5F4D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F15586-4EB3-4F46-952A-802B6F5C80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8CFFFD-CB9C-4A75-BD2D-6548D2A3A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EC7636-2410-4C45-93C4-23A33FE99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553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280160"/>
            <a:ext cx="3291840" cy="411480"/>
          </a:xfrm>
          <a:prstGeom prst="roundRect">
            <a:avLst>
              <a:gd name="adj" fmla="val 30000"/>
            </a:avLst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MATEMÁTICA · 1ª SÉRIE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6692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2E3B41"/>
                </a:solidFill>
                <a:latin typeface="Calibri"/>
              </a:rPr>
              <a:t>Função Modular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566928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19598"/>
                </a:solidFill>
                <a:latin typeface="Calibri"/>
              </a:rPr>
              <a:t>Construção e análise de gráficos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0"/>
            <a:ext cx="5486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F6B70"/>
                </a:solidFill>
                <a:latin typeface="Calibri"/>
              </a:rPr>
              <a:t>Do módulo de um número ao deslocamento do gráfico.</a:t>
            </a:r>
          </a:p>
        </p:txBody>
      </p:sp>
      <p:pic>
        <p:nvPicPr>
          <p:cNvPr id="6" name="Picture 5" descr="s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81328"/>
            <a:ext cx="5120640" cy="30723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2217241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Roteiro da aula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417320"/>
            <a:ext cx="26060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O que é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32004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F6B70"/>
                </a:solidFill>
                <a:latin typeface="Calibri"/>
              </a:rPr>
              <a:t>distância até o zero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18872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26279" y="146304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59" y="1417320"/>
            <a:ext cx="26060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O gráfico de y = |x|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194560"/>
            <a:ext cx="32004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F6B70"/>
                </a:solidFill>
                <a:latin typeface="Calibri"/>
              </a:rPr>
              <a:t>o “V” ponto a ponto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18872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75319" y="146304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417320"/>
            <a:ext cx="26060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Funções de 1º e 2º grau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194560"/>
            <a:ext cx="32004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F6B70"/>
                </a:solidFill>
                <a:latin typeface="Calibri"/>
              </a:rPr>
              <a:t>relembrando os gráficos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566160"/>
            <a:ext cx="26060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O ato de rebater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32004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F6B70"/>
                </a:solidFill>
                <a:latin typeface="Calibri"/>
              </a:rPr>
              <a:t>o que o módulo faz no gráfico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333756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26279" y="361188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3566160"/>
            <a:ext cx="26060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Somando e subtraindo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4343400"/>
            <a:ext cx="32004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F6B70"/>
                </a:solidFill>
                <a:latin typeface="Calibri"/>
              </a:rPr>
              <a:t>fora e dentro do módulo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9" y="333756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75319" y="361188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399" y="3566160"/>
            <a:ext cx="26060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Praticando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4343400"/>
            <a:ext cx="32004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F6B70"/>
                </a:solidFill>
                <a:latin typeface="Calibri"/>
              </a:rPr>
              <a:t>questões no estilo Edros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4427061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 que é o módulo de um número?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E3B41"/>
                </a:solidFill>
                <a:latin typeface="Calibri"/>
              </a:rPr>
              <a:t>O módulo (ou valor absoluto) de um número é a sua </a:t>
            </a:r>
            <a:r>
              <a:rPr sz="2000" b="1">
                <a:solidFill>
                  <a:srgbClr val="2E3B41"/>
                </a:solidFill>
                <a:latin typeface="Calibri"/>
              </a:rPr>
              <a:t>distância até o zero</a:t>
            </a:r>
            <a:r>
              <a:rPr sz="2000" b="0">
                <a:solidFill>
                  <a:srgbClr val="2E3B41"/>
                </a:solidFill>
                <a:latin typeface="Calibri"/>
              </a:rPr>
              <a:t> na reta numérica.</a:t>
            </a:r>
          </a:p>
        </p:txBody>
      </p:sp>
      <p:pic>
        <p:nvPicPr>
          <p:cNvPr id="4" name="Picture 3" descr="s_num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600200"/>
            <a:ext cx="9144000" cy="2194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3977639"/>
            <a:ext cx="5486400" cy="17373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120640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E3B41"/>
                </a:solidFill>
                <a:latin typeface="Calibri"/>
              </a:rPr>
              <a:t>Definição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E3B41"/>
                </a:solidFill>
                <a:latin typeface="Calibri"/>
              </a:rPr>
              <a:t>|x| = x,   se x ≥ 0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E3B41"/>
                </a:solidFill>
                <a:latin typeface="Calibri"/>
              </a:rPr>
              <a:t>|x| = −x,  se x &lt; 0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977639"/>
            <a:ext cx="539496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3977639"/>
            <a:ext cx="5394960" cy="384048"/>
          </a:xfrm>
          <a:prstGeom prst="rect">
            <a:avLst/>
          </a:prstGeom>
          <a:solidFill>
            <a:srgbClr val="019598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Por que −x?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4434840"/>
            <a:ext cx="5212080" cy="12435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500" b="0">
                <a:solidFill>
                  <a:srgbClr val="2E3B41"/>
                </a:solidFill>
                <a:latin typeface="Calibri"/>
              </a:rPr>
              <a:t>Se x é negativo, −x é positivo.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500" b="0">
                <a:solidFill>
                  <a:srgbClr val="2E3B41"/>
                </a:solidFill>
                <a:latin typeface="Calibri"/>
              </a:rPr>
              <a:t>Ex.: |−3| = −(−3) = 3.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500" b="0">
                <a:solidFill>
                  <a:srgbClr val="2E3B41"/>
                </a:solidFill>
                <a:latin typeface="Calibri"/>
              </a:rPr>
              <a:t>Distância nunca é negativa: |x| ≥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2950408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Aquecimento: calcule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5661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566160" cy="1600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2E3B41"/>
                </a:solidFill>
                <a:latin typeface="Calibri"/>
              </a:rPr>
              <a:t>|7|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79" y="1097280"/>
            <a:ext cx="35661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79" y="1097280"/>
            <a:ext cx="3566160" cy="1600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2E3B41"/>
                </a:solidFill>
                <a:latin typeface="Calibri"/>
              </a:rPr>
              <a:t>|−7|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19" y="1097280"/>
            <a:ext cx="35661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9" y="1097280"/>
            <a:ext cx="3566160" cy="1600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2E3B41"/>
                </a:solidFill>
                <a:latin typeface="Calibri"/>
              </a:rPr>
              <a:t>|0|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35661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566160" cy="1600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2E3B41"/>
                </a:solidFill>
                <a:latin typeface="Calibri"/>
              </a:rPr>
              <a:t>|−2,5|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2926080"/>
            <a:ext cx="35661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2926080"/>
            <a:ext cx="3566160" cy="1600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2E3B41"/>
                </a:solidFill>
                <a:latin typeface="Calibri"/>
              </a:rPr>
              <a:t>|3 − 8|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2926080"/>
            <a:ext cx="35661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9" y="2926080"/>
            <a:ext cx="3566160" cy="1600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2E3B41"/>
                </a:solidFill>
                <a:latin typeface="Calibri"/>
              </a:rPr>
              <a:t>|√2 − 2|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800" b="1">
                <a:solidFill>
                  <a:srgbClr val="019598"/>
                </a:solidFill>
                <a:latin typeface="Calibri"/>
              </a:rPr>
              <a:t>Solução do último:</a:t>
            </a:r>
            <a:r>
              <a:rPr sz="1800" b="0">
                <a:solidFill>
                  <a:srgbClr val="2E3B41"/>
                </a:solidFill>
                <a:latin typeface="Calibri"/>
              </a:rPr>
              <a:t> como √2 ≈ 1,41 &lt; 2, o número √2 − 2 é negativo. Logo |√2 − 2| = −(√2 − 2) = </a:t>
            </a:r>
            <a:r>
              <a:rPr sz="1800" b="1">
                <a:solidFill>
                  <a:srgbClr val="2E3B41"/>
                </a:solidFill>
                <a:latin typeface="Calibri"/>
              </a:rPr>
              <a:t>2 − √2</a:t>
            </a:r>
            <a:r>
              <a:rPr sz="1800" b="0">
                <a:solidFill>
                  <a:srgbClr val="2E3B41"/>
                </a:solidFill>
                <a:latin typeface="Calibri"/>
              </a:rPr>
              <a:t> ≈ 0,59.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4483655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 gráfico de y = |x|, ponto a ponto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57607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−3</a:t>
                      </a:r>
                    </a:p>
                  </a:txBody>
                  <a:tcPr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−2</a:t>
                      </a:r>
                    </a:p>
                  </a:txBody>
                  <a:tcPr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−1</a:t>
                      </a:r>
                    </a:p>
                  </a:txBody>
                  <a:tcPr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0195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3B41"/>
                          </a:solidFill>
                          <a:latin typeface="Calibri"/>
                        </a:rPr>
                        <a:t>y = |x|</a:t>
                      </a:r>
                    </a:p>
                  </a:txBody>
                  <a:tcPr>
                    <a:solidFill>
                      <a:srgbClr val="E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3B4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3B4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3B4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3B4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3B4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3B4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3B4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2194560"/>
            <a:ext cx="5760720" cy="3520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5760720" cy="384048"/>
          </a:xfrm>
          <a:prstGeom prst="rect">
            <a:avLst/>
          </a:prstGeom>
          <a:solidFill>
            <a:srgbClr val="019598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O que observar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577840" cy="30266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O gráfico tem a forma de um </a:t>
            </a:r>
            <a:r>
              <a:rPr sz="1600" b="1">
                <a:solidFill>
                  <a:srgbClr val="2E3B41"/>
                </a:solidFill>
                <a:latin typeface="Calibri"/>
              </a:rPr>
              <a:t>“V”</a:t>
            </a:r>
            <a:r>
              <a:rPr sz="1600" b="0">
                <a:solidFill>
                  <a:srgbClr val="2E3B41"/>
                </a:solidFill>
                <a:latin typeface="Calibri"/>
              </a:rPr>
              <a:t>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O </a:t>
            </a:r>
            <a:r>
              <a:rPr sz="1600" b="1">
                <a:solidFill>
                  <a:srgbClr val="2E3B41"/>
                </a:solidFill>
                <a:latin typeface="Calibri"/>
              </a:rPr>
              <a:t>vértice</a:t>
            </a:r>
            <a:r>
              <a:rPr sz="1600" b="0">
                <a:solidFill>
                  <a:srgbClr val="2E3B41"/>
                </a:solidFill>
                <a:latin typeface="Calibri"/>
              </a:rPr>
              <a:t> fica em (0, 0).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Para x ≥ 0 é a reta y = x; para x &lt; 0, a reta y = −x.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Nunca fica abaixo do eixo x: Im = [0, +∞).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É simétrico em relação ao eixo y.</a:t>
            </a:r>
          </a:p>
        </p:txBody>
      </p:sp>
      <p:pic>
        <p:nvPicPr>
          <p:cNvPr id="7" name="Picture 6" descr="s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51660"/>
            <a:ext cx="50292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4217035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Relembrando: função do 1º grau</a:t>
            </a:r>
          </a:p>
        </p:txBody>
      </p:sp>
      <p:pic>
        <p:nvPicPr>
          <p:cNvPr id="3" name="Picture 2" descr="s_afim_vaz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912" y="960120"/>
            <a:ext cx="3458094" cy="4754880"/>
          </a:xfrm>
          <a:prstGeom prst="rect">
            <a:avLst/>
          </a:prstGeom>
        </p:spPr>
      </p:pic>
      <p:pic>
        <p:nvPicPr>
          <p:cNvPr id="4" name="Picture 3" descr="s_af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912" y="960120"/>
            <a:ext cx="3458094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0" y="1005840"/>
            <a:ext cx="557784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35040" y="1005840"/>
            <a:ext cx="5577840" cy="384048"/>
          </a:xfrm>
          <a:prstGeom prst="rect">
            <a:avLst/>
          </a:prstGeom>
          <a:solidFill>
            <a:srgbClr val="019598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y = 2x − 4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79" y="1463040"/>
            <a:ext cx="5394959" cy="18836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Gráfico: uma </a:t>
            </a:r>
            <a:r>
              <a:rPr sz="1600" b="1">
                <a:solidFill>
                  <a:srgbClr val="2E3B41"/>
                </a:solidFill>
                <a:latin typeface="Calibri"/>
              </a:rPr>
              <a:t>reta</a:t>
            </a:r>
            <a:r>
              <a:rPr sz="1600" b="0">
                <a:solidFill>
                  <a:srgbClr val="2E3B41"/>
                </a:solidFill>
                <a:latin typeface="Calibri"/>
              </a:rPr>
              <a:t>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Corta o eixo y em (0, −4).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Raiz: 2x − 4 = 0 → x = 2.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Crescente, porque a = 2 &gt; 0.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3611880"/>
            <a:ext cx="5577840" cy="210312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3703320"/>
            <a:ext cx="521208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19598"/>
                </a:solidFill>
                <a:latin typeface="Calibri"/>
              </a:rPr>
              <a:t>Repare: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E3B41"/>
                </a:solidFill>
                <a:latin typeface="Calibri"/>
              </a:rPr>
              <a:t>à esquerda de x = 2 a reta fica </a:t>
            </a:r>
            <a:r>
              <a:rPr sz="1700" b="1">
                <a:solidFill>
                  <a:srgbClr val="2E3B41"/>
                </a:solidFill>
                <a:latin typeface="Calibri"/>
              </a:rPr>
              <a:t>abaixo</a:t>
            </a:r>
            <a:r>
              <a:rPr sz="1700" b="0">
                <a:solidFill>
                  <a:srgbClr val="2E3B41"/>
                </a:solidFill>
                <a:latin typeface="Calibri"/>
              </a:rPr>
              <a:t> do eixo x (valores negativos).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E3B41"/>
                </a:solidFill>
                <a:latin typeface="Calibri"/>
              </a:rPr>
              <a:t>O que o módulo vai fazer com essa parte?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4217035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Relembrando: função do 2º grau</a:t>
            </a:r>
          </a:p>
        </p:txBody>
      </p:sp>
      <p:pic>
        <p:nvPicPr>
          <p:cNvPr id="3" name="Picture 2" descr="s_quad_vaz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119" y="960120"/>
            <a:ext cx="2773680" cy="4754880"/>
          </a:xfrm>
          <a:prstGeom prst="rect">
            <a:avLst/>
          </a:prstGeom>
        </p:spPr>
      </p:pic>
      <p:pic>
        <p:nvPicPr>
          <p:cNvPr id="4" name="Picture 3" descr="s_qu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119" y="960120"/>
            <a:ext cx="277368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0" y="1005840"/>
            <a:ext cx="557784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35040" y="1005840"/>
            <a:ext cx="5577840" cy="384048"/>
          </a:xfrm>
          <a:prstGeom prst="rect">
            <a:avLst/>
          </a:prstGeom>
          <a:solidFill>
            <a:srgbClr val="019598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y = x² − 4x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79" y="1463040"/>
            <a:ext cx="5394959" cy="18836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Gráfico: uma </a:t>
            </a:r>
            <a:r>
              <a:rPr sz="1600" b="1">
                <a:solidFill>
                  <a:srgbClr val="2E3B41"/>
                </a:solidFill>
                <a:latin typeface="Calibri"/>
              </a:rPr>
              <a:t>parábola</a:t>
            </a:r>
            <a:r>
              <a:rPr sz="1600" b="0">
                <a:solidFill>
                  <a:srgbClr val="2E3B41"/>
                </a:solidFill>
                <a:latin typeface="Calibri"/>
              </a:rPr>
              <a:t>, concavidade para cima.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Raízes: x(x − 4) = 0 → x = 0 e x = 4.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Vértice: x = 2 → y = 4 − 8 = −4.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3611880"/>
            <a:ext cx="5577840" cy="210312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3703320"/>
            <a:ext cx="521208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19598"/>
                </a:solidFill>
                <a:latin typeface="Calibri"/>
              </a:rPr>
              <a:t>Repare: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E3B41"/>
                </a:solidFill>
                <a:latin typeface="Calibri"/>
              </a:rPr>
              <a:t>entre as raízes 0 e 4, a parábola fica </a:t>
            </a:r>
            <a:r>
              <a:rPr sz="1700" b="1">
                <a:solidFill>
                  <a:srgbClr val="2E3B41"/>
                </a:solidFill>
                <a:latin typeface="Calibri"/>
              </a:rPr>
              <a:t>abaixo</a:t>
            </a:r>
            <a:r>
              <a:rPr sz="1700" b="0">
                <a:solidFill>
                  <a:srgbClr val="2E3B41"/>
                </a:solidFill>
                <a:latin typeface="Calibri"/>
              </a:rPr>
              <a:t> do eixo x.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E3B41"/>
                </a:solidFill>
                <a:latin typeface="Calibri"/>
              </a:rPr>
              <a:t>É exatamente essa parte que o módulo vai “virar”.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3842027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 ato de rebater: y = |2x − 4|</a:t>
            </a:r>
          </a:p>
        </p:txBody>
      </p:sp>
      <p:pic>
        <p:nvPicPr>
          <p:cNvPr id="3" name="Picture 2" descr="g1_rebate_af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912" y="960120"/>
            <a:ext cx="3458094" cy="4754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35040" y="1005840"/>
            <a:ext cx="55778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35040" y="1005840"/>
            <a:ext cx="5577840" cy="384048"/>
          </a:xfrm>
          <a:prstGeom prst="rect">
            <a:avLst/>
          </a:prstGeom>
          <a:solidFill>
            <a:srgbClr val="019598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O que o módulo faz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79" y="1463040"/>
            <a:ext cx="5394959" cy="22494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A parte que estava </a:t>
            </a:r>
            <a:r>
              <a:rPr sz="1600" b="1">
                <a:solidFill>
                  <a:srgbClr val="2E3B41"/>
                </a:solidFill>
                <a:latin typeface="Calibri"/>
              </a:rPr>
              <a:t>acima</a:t>
            </a:r>
            <a:r>
              <a:rPr sz="1600" b="0">
                <a:solidFill>
                  <a:srgbClr val="2E3B41"/>
                </a:solidFill>
                <a:latin typeface="Calibri"/>
              </a:rPr>
              <a:t> do eixo x fica igual.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A parte </a:t>
            </a:r>
            <a:r>
              <a:rPr sz="1600" b="1">
                <a:solidFill>
                  <a:srgbClr val="2E3B41"/>
                </a:solidFill>
                <a:latin typeface="Calibri"/>
              </a:rPr>
              <a:t>abaixo</a:t>
            </a:r>
            <a:r>
              <a:rPr sz="1600" b="0">
                <a:solidFill>
                  <a:srgbClr val="2E3B41"/>
                </a:solidFill>
                <a:latin typeface="Calibri"/>
              </a:rPr>
              <a:t> do eixo x é </a:t>
            </a:r>
            <a:r>
              <a:rPr sz="1600" b="1">
                <a:solidFill>
                  <a:srgbClr val="2E3B41"/>
                </a:solidFill>
                <a:latin typeface="Calibri"/>
              </a:rPr>
              <a:t>rebatida</a:t>
            </a:r>
            <a:r>
              <a:rPr sz="1600" b="0">
                <a:solidFill>
                  <a:srgbClr val="2E3B41"/>
                </a:solidFill>
                <a:latin typeface="Calibri"/>
              </a:rPr>
              <a:t> (espelhada) para cima.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A raiz x = 2 vira o </a:t>
            </a:r>
            <a:r>
              <a:rPr sz="1600" b="1">
                <a:solidFill>
                  <a:srgbClr val="2E3B41"/>
                </a:solidFill>
                <a:latin typeface="Calibri"/>
              </a:rPr>
              <a:t>vértice</a:t>
            </a:r>
            <a:r>
              <a:rPr sz="1600" b="0">
                <a:solidFill>
                  <a:srgbClr val="2E3B41"/>
                </a:solidFill>
                <a:latin typeface="Calibri"/>
              </a:rPr>
              <a:t> do “V”: (2, 0).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3977639"/>
            <a:ext cx="5577840" cy="17373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4041648"/>
            <a:ext cx="521208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19598"/>
                </a:solidFill>
                <a:latin typeface="Calibri"/>
              </a:rPr>
              <a:t>Passo a passo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1. Desenhe y = 2x − 4.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2. Espelhe no eixo x o que ficou negativo.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3923208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 ato de rebater: y = |x² − 4x|</a:t>
            </a:r>
          </a:p>
        </p:txBody>
      </p:sp>
      <p:pic>
        <p:nvPicPr>
          <p:cNvPr id="3" name="Picture 2" descr="g2_rebate_quad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43" y="960120"/>
            <a:ext cx="3025832" cy="4754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35040" y="1005840"/>
            <a:ext cx="55778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35040" y="1005840"/>
            <a:ext cx="5577840" cy="384048"/>
          </a:xfrm>
          <a:prstGeom prst="rect">
            <a:avLst/>
          </a:prstGeom>
          <a:solidFill>
            <a:srgbClr val="019598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Mesma regra, outra curva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79" y="1463040"/>
            <a:ext cx="5394959" cy="22494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Fora de [0, 4] a parábola continua igual.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Entre 0 e 4 o arco negativo é rebatido.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O vértice (2, −4) vira o ponto (2, 4).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3977639"/>
            <a:ext cx="5577840" cy="17373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4041648"/>
            <a:ext cx="521208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19598"/>
                </a:solidFill>
                <a:latin typeface="Calibri"/>
              </a:rPr>
              <a:t>Conclusão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O gráfico de |g(x)| </a:t>
            </a:r>
            <a:r>
              <a:rPr sz="1600" b="1">
                <a:solidFill>
                  <a:srgbClr val="2E3B41"/>
                </a:solidFill>
                <a:latin typeface="Calibri"/>
              </a:rPr>
              <a:t>nunca</a:t>
            </a:r>
            <a:r>
              <a:rPr sz="1600" b="0">
                <a:solidFill>
                  <a:srgbClr val="2E3B41"/>
                </a:solidFill>
                <a:latin typeface="Calibri"/>
              </a:rPr>
              <a:t> fica abaixo do eixo x: Im ⊂ [0, +∞).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5106233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Somando e subtraindo FORA do módulo</a:t>
            </a:r>
          </a:p>
        </p:txBody>
      </p:sp>
      <p:pic>
        <p:nvPicPr>
          <p:cNvPr id="3" name="Picture 2" descr="g3_vertical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75360"/>
            <a:ext cx="5669280" cy="4724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92240" y="1005840"/>
            <a:ext cx="512064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0" y="1005840"/>
            <a:ext cx="5120640" cy="384048"/>
          </a:xfrm>
          <a:prstGeom prst="rect">
            <a:avLst/>
          </a:prstGeom>
          <a:solidFill>
            <a:srgbClr val="019598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f(x) = |x| +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9" y="1463040"/>
            <a:ext cx="4937759" cy="20665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1">
                <a:solidFill>
                  <a:srgbClr val="2E3B41"/>
                </a:solidFill>
                <a:latin typeface="Calibri"/>
              </a:rPr>
              <a:t>k &gt; 0</a:t>
            </a:r>
            <a:r>
              <a:rPr sz="1600" b="0">
                <a:solidFill>
                  <a:srgbClr val="2E3B41"/>
                </a:solidFill>
                <a:latin typeface="Calibri"/>
              </a:rPr>
              <a:t>: o gráfico </a:t>
            </a:r>
            <a:r>
              <a:rPr sz="1600" b="1">
                <a:solidFill>
                  <a:srgbClr val="2E3B41"/>
                </a:solidFill>
                <a:latin typeface="Calibri"/>
              </a:rPr>
              <a:t>sobe</a:t>
            </a:r>
            <a:r>
              <a:rPr sz="1600" b="0">
                <a:solidFill>
                  <a:srgbClr val="2E3B41"/>
                </a:solidFill>
                <a:latin typeface="Calibri"/>
              </a:rPr>
              <a:t> k unidades.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1">
                <a:solidFill>
                  <a:srgbClr val="2E3B41"/>
                </a:solidFill>
                <a:latin typeface="Calibri"/>
              </a:rPr>
              <a:t>k &lt; 0</a:t>
            </a:r>
            <a:r>
              <a:rPr sz="1600" b="0">
                <a:solidFill>
                  <a:srgbClr val="2E3B41"/>
                </a:solidFill>
                <a:latin typeface="Calibri"/>
              </a:rPr>
              <a:t>: o gráfico </a:t>
            </a:r>
            <a:r>
              <a:rPr sz="1600" b="1">
                <a:solidFill>
                  <a:srgbClr val="2E3B41"/>
                </a:solidFill>
                <a:latin typeface="Calibri"/>
              </a:rPr>
              <a:t>desce</a:t>
            </a:r>
            <a:r>
              <a:rPr sz="1600" b="0">
                <a:solidFill>
                  <a:srgbClr val="2E3B41"/>
                </a:solidFill>
                <a:latin typeface="Calibri"/>
              </a:rPr>
              <a:t> |k| unidades.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O vértice vai para (0, k).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749039"/>
            <a:ext cx="5120640" cy="19659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3822191"/>
            <a:ext cx="475488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19598"/>
                </a:solidFill>
                <a:latin typeface="Calibri"/>
              </a:rPr>
              <a:t>Deslocamento vertical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|x| + 3 → sobe 3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|x| − 2 → desce 2 e passa a ter raízes x = ±2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5442783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Somando e subtraindo DENTRO do módulo</a:t>
            </a:r>
          </a:p>
        </p:txBody>
      </p:sp>
      <p:pic>
        <p:nvPicPr>
          <p:cNvPr id="3" name="Picture 2" descr="g4_horizontal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75360"/>
            <a:ext cx="5669280" cy="4724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92240" y="1005840"/>
            <a:ext cx="512064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0" y="1005840"/>
            <a:ext cx="5120640" cy="384048"/>
          </a:xfrm>
          <a:prstGeom prst="rect">
            <a:avLst/>
          </a:prstGeom>
          <a:solidFill>
            <a:srgbClr val="019598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f(x) = |x − a|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9" y="1463040"/>
            <a:ext cx="4937759" cy="20665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O gráfico anda </a:t>
            </a:r>
            <a:r>
              <a:rPr sz="1600" b="1">
                <a:solidFill>
                  <a:srgbClr val="2E3B41"/>
                </a:solidFill>
                <a:latin typeface="Calibri"/>
              </a:rPr>
              <a:t>na horizontal</a:t>
            </a:r>
            <a:r>
              <a:rPr sz="1600" b="0">
                <a:solidFill>
                  <a:srgbClr val="2E3B41"/>
                </a:solidFill>
                <a:latin typeface="Calibri"/>
              </a:rPr>
              <a:t>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O vértice vai para (a, 0), onde x − a = 0.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|x − 3| → direita 3   ·   |x + 3| → esquerda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749039"/>
            <a:ext cx="512064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3822191"/>
            <a:ext cx="475488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3B41"/>
                </a:solidFill>
                <a:latin typeface="Calibri"/>
              </a:rPr>
              <a:t>⚠ A armadilha do sinal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O sinal parece “trocado”: o </a:t>
            </a:r>
            <a:r>
              <a:rPr sz="1600" b="1">
                <a:solidFill>
                  <a:srgbClr val="2E3B41"/>
                </a:solidFill>
                <a:latin typeface="Calibri"/>
              </a:rPr>
              <a:t>menos vai para a direita</a:t>
            </a:r>
            <a:r>
              <a:rPr sz="1600" b="0">
                <a:solidFill>
                  <a:srgbClr val="2E3B41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Dica: o vértice está onde o que está dentro do módulo </a:t>
            </a:r>
            <a:r>
              <a:rPr sz="1600" b="1">
                <a:solidFill>
                  <a:srgbClr val="2E3B41"/>
                </a:solidFill>
                <a:latin typeface="Calibri"/>
              </a:rPr>
              <a:t>zera</a:t>
            </a:r>
            <a:r>
              <a:rPr sz="1600" b="0">
                <a:solidFill>
                  <a:srgbClr val="2E3B41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4132639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Juntando tudo: f(x) = |x − a| + k</a:t>
            </a:r>
          </a:p>
        </p:txBody>
      </p:sp>
      <p:pic>
        <p:nvPicPr>
          <p:cNvPr id="3" name="Picture 2" descr="g5_combin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75360"/>
            <a:ext cx="5669280" cy="4724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92240" y="1005840"/>
            <a:ext cx="512064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0" y="1005840"/>
            <a:ext cx="5120640" cy="384048"/>
          </a:xfrm>
          <a:prstGeom prst="rect">
            <a:avLst/>
          </a:prstGeom>
          <a:solidFill>
            <a:srgbClr val="019598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Vértice em (a, 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9" y="1463040"/>
            <a:ext cx="4937759" cy="18836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1">
                <a:solidFill>
                  <a:srgbClr val="2E3B41"/>
                </a:solidFill>
                <a:latin typeface="Calibri"/>
              </a:rPr>
              <a:t>Dentro</a:t>
            </a:r>
            <a:r>
              <a:rPr sz="1600" b="0">
                <a:solidFill>
                  <a:srgbClr val="2E3B41"/>
                </a:solidFill>
                <a:latin typeface="Calibri"/>
              </a:rPr>
              <a:t> (a): anda na horizontal.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1">
                <a:solidFill>
                  <a:srgbClr val="2E3B41"/>
                </a:solidFill>
                <a:latin typeface="Calibri"/>
              </a:rPr>
              <a:t>Fora</a:t>
            </a:r>
            <a:r>
              <a:rPr sz="1600" b="0">
                <a:solidFill>
                  <a:srgbClr val="2E3B41"/>
                </a:solidFill>
                <a:latin typeface="Calibri"/>
              </a:rPr>
              <a:t> (k): anda na vertical.</a:t>
            </a:r>
          </a:p>
          <a:p>
            <a:pPr marL="201168" indent="-201168" algn="l">
              <a:spcAft>
                <a:spcPts val="400"/>
              </a:spcAft>
              <a:buClr>
                <a:srgbClr val="019598"/>
              </a:buClr>
              <a:buChar char="•"/>
            </a:pPr>
            <a:r>
              <a:rPr sz="1600" b="0">
                <a:solidFill>
                  <a:srgbClr val="2E3B41"/>
                </a:solidFill>
                <a:latin typeface="Calibri"/>
              </a:rPr>
              <a:t>O formato do “V” não muda.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566160"/>
            <a:ext cx="5120640" cy="214884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3639312"/>
            <a:ext cx="47548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19598"/>
                </a:solidFill>
                <a:latin typeface="Calibri"/>
              </a:rPr>
              <a:t>Exemplos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|x − 2| + 1 → vértice (2, 1)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|x + 3| − 2 → vértice (−3, −2)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|x − 1| − 3 → vértice (1, −3)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3719452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Resumo das transformações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14300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Função</a:t>
                      </a:r>
                    </a:p>
                  </a:txBody>
                  <a:tcPr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O que acontece</a:t>
                      </a:r>
                    </a:p>
                  </a:txBody>
                  <a:tcPr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Vértice</a:t>
                      </a:r>
                    </a:p>
                  </a:txBody>
                  <a:tcPr anchor="ctr">
                    <a:solidFill>
                      <a:srgbClr val="0195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E3B41"/>
                          </a:solidFill>
                          <a:latin typeface="Calibri"/>
                        </a:rPr>
                        <a:t>y = |x|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E3B41"/>
                          </a:solidFill>
                          <a:latin typeface="Calibri"/>
                        </a:rPr>
                        <a:t>“V” de referência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019598"/>
                          </a:solidFill>
                          <a:latin typeface="Calibri"/>
                        </a:rPr>
                        <a:t>(0, 0)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E3B41"/>
                          </a:solidFill>
                          <a:latin typeface="Calibri"/>
                        </a:rPr>
                        <a:t>y = |g(x)|</a:t>
                      </a:r>
                    </a:p>
                  </a:txBody>
                  <a:tcPr anchor="ctr">
                    <a:solidFill>
                      <a:srgbClr val="E2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E3B41"/>
                          </a:solidFill>
                          <a:latin typeface="Calibri"/>
                        </a:rPr>
                        <a:t>rebate a parte negativa de g para cima</a:t>
                      </a:r>
                    </a:p>
                  </a:txBody>
                  <a:tcPr anchor="ctr">
                    <a:solidFill>
                      <a:srgbClr val="E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01959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E2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E3B41"/>
                          </a:solidFill>
                          <a:latin typeface="Calibri"/>
                        </a:rPr>
                        <a:t>y = |x| + 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E3B41"/>
                          </a:solidFill>
                          <a:latin typeface="Calibri"/>
                        </a:rPr>
                        <a:t>sobe (k &gt; 0) ou desce (k &lt; 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019598"/>
                          </a:solidFill>
                          <a:latin typeface="Calibri"/>
                        </a:rPr>
                        <a:t>(0, 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E3B41"/>
                          </a:solidFill>
                          <a:latin typeface="Calibri"/>
                        </a:rPr>
                        <a:t>y = |x − a|</a:t>
                      </a:r>
                    </a:p>
                  </a:txBody>
                  <a:tcPr anchor="ctr">
                    <a:solidFill>
                      <a:srgbClr val="E2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E3B41"/>
                          </a:solidFill>
                          <a:latin typeface="Calibri"/>
                        </a:rPr>
                        <a:t>direita (a &gt; 0) ou esquerda (a &lt; 0)</a:t>
                      </a:r>
                    </a:p>
                  </a:txBody>
                  <a:tcPr anchor="ctr">
                    <a:solidFill>
                      <a:srgbClr val="E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019598"/>
                          </a:solidFill>
                          <a:latin typeface="Calibri"/>
                        </a:rPr>
                        <a:t>(a, 0)</a:t>
                      </a:r>
                    </a:p>
                  </a:txBody>
                  <a:tcPr anchor="ctr">
                    <a:solidFill>
                      <a:srgbClr val="E2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E3B41"/>
                          </a:solidFill>
                          <a:latin typeface="Calibri"/>
                        </a:rPr>
                        <a:t>y = |x − a| + 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2E3B41"/>
                          </a:solidFill>
                          <a:latin typeface="Calibri"/>
                        </a:rPr>
                        <a:t>horizontal e vertical juntos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019598"/>
                          </a:solidFill>
                          <a:latin typeface="Calibri"/>
                        </a:rPr>
                        <a:t>(a, 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7865407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Verifique: onde fica o vértice? Sobe, desce, direita ou esquerda?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544068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" y="137160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440680" cy="2057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2E3B41"/>
                </a:solidFill>
                <a:latin typeface="Calibri"/>
              </a:rPr>
              <a:t>f(x) = |x − 4|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143000"/>
            <a:ext cx="544068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0" y="137160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143000"/>
            <a:ext cx="5440680" cy="2057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2E3B41"/>
                </a:solidFill>
                <a:latin typeface="Calibri"/>
              </a:rPr>
              <a:t>f(x) = |x| + 3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544068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440680" cy="2057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2E3B41"/>
                </a:solidFill>
                <a:latin typeface="Calibri"/>
              </a:rPr>
              <a:t>f(x) = |x + 1| − 2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429000"/>
            <a:ext cx="544068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0" y="365760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429000"/>
            <a:ext cx="5440680" cy="2057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2E3B41"/>
                </a:solidFill>
                <a:latin typeface="Calibri"/>
              </a:rPr>
              <a:t>f(x) = |x − 3| + 1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1614527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Respostas</a:t>
            </a:r>
          </a:p>
        </p:txBody>
      </p:sp>
      <p:pic>
        <p:nvPicPr>
          <p:cNvPr id="3" name="Picture 2" descr="s_check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5010"/>
            <a:ext cx="2697480" cy="2247900"/>
          </a:xfrm>
          <a:prstGeom prst="rect">
            <a:avLst/>
          </a:prstGeom>
        </p:spPr>
      </p:pic>
      <p:pic>
        <p:nvPicPr>
          <p:cNvPr id="4" name="Picture 3" descr="s_chec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985010"/>
            <a:ext cx="2697480" cy="2247900"/>
          </a:xfrm>
          <a:prstGeom prst="rect">
            <a:avLst/>
          </a:prstGeom>
        </p:spPr>
      </p:pic>
      <p:pic>
        <p:nvPicPr>
          <p:cNvPr id="5" name="Picture 4" descr="s_chec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985010"/>
            <a:ext cx="2697480" cy="2247900"/>
          </a:xfrm>
          <a:prstGeom prst="rect">
            <a:avLst/>
          </a:prstGeom>
        </p:spPr>
      </p:pic>
      <p:pic>
        <p:nvPicPr>
          <p:cNvPr id="6" name="Picture 5" descr="s_check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1985010"/>
            <a:ext cx="2697480" cy="2247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F6B70"/>
                </a:solidFill>
                <a:latin typeface="Calibri"/>
              </a:rPr>
              <a:t>Linha tracejada: y = |x|. O ponto vermelho é o vértice.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92608"/>
            <a:ext cx="3183393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Já caiu no Edros! (2022)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E3B41"/>
                </a:solidFill>
                <a:latin typeface="Calibri"/>
              </a:rPr>
              <a:t>A trajetória de um raio luminoso que incide e reflete em uma superfície é representada pela função </a:t>
            </a:r>
            <a:r>
              <a:rPr sz="1700" b="1">
                <a:solidFill>
                  <a:srgbClr val="2E3B41"/>
                </a:solidFill>
                <a:latin typeface="Calibri"/>
              </a:rPr>
              <a:t>f(x) = |2x + 5|</a:t>
            </a:r>
            <a:r>
              <a:rPr sz="1700" b="0">
                <a:solidFill>
                  <a:srgbClr val="2E3B41"/>
                </a:solidFill>
                <a:latin typeface="Calibri"/>
              </a:rPr>
              <a:t>. Qual gráfico o software produziu?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57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3B41"/>
                </a:solidFill>
                <a:latin typeface="Calibri"/>
              </a:rPr>
              <a:t>a)</a:t>
            </a:r>
          </a:p>
        </p:txBody>
      </p:sp>
      <p:pic>
        <p:nvPicPr>
          <p:cNvPr id="5" name="Picture 4" descr="q7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0056"/>
            <a:ext cx="2011680" cy="2292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88920" y="1828800"/>
            <a:ext cx="457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3B41"/>
                </a:solidFill>
                <a:latin typeface="Calibri"/>
              </a:rPr>
              <a:t>b)</a:t>
            </a:r>
          </a:p>
        </p:txBody>
      </p:sp>
      <p:pic>
        <p:nvPicPr>
          <p:cNvPr id="7" name="Picture 6" descr="q7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2420056"/>
            <a:ext cx="2011680" cy="22922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0" y="1828800"/>
            <a:ext cx="457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3B41"/>
                </a:solidFill>
                <a:latin typeface="Calibri"/>
              </a:rPr>
              <a:t>c)</a:t>
            </a:r>
          </a:p>
        </p:txBody>
      </p:sp>
      <p:pic>
        <p:nvPicPr>
          <p:cNvPr id="9" name="Picture 8" descr="q7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420056"/>
            <a:ext cx="2011680" cy="2292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69480" y="1828800"/>
            <a:ext cx="457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3B41"/>
                </a:solidFill>
                <a:latin typeface="Calibri"/>
              </a:rPr>
              <a:t>d)</a:t>
            </a:r>
          </a:p>
        </p:txBody>
      </p:sp>
      <p:pic>
        <p:nvPicPr>
          <p:cNvPr id="11" name="Picture 10" descr="q75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2420056"/>
            <a:ext cx="2011680" cy="22922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09760" y="1828800"/>
            <a:ext cx="457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3B41"/>
                </a:solidFill>
                <a:latin typeface="Calibri"/>
              </a:rPr>
              <a:t>e)</a:t>
            </a:r>
          </a:p>
        </p:txBody>
      </p:sp>
      <p:pic>
        <p:nvPicPr>
          <p:cNvPr id="13" name="Picture 12" descr="q7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2453276"/>
            <a:ext cx="2011680" cy="222576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48640" y="5074920"/>
            <a:ext cx="11064240" cy="5943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093208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19598"/>
                </a:solidFill>
                <a:latin typeface="Calibri"/>
              </a:rPr>
              <a:t>Pista:</a:t>
            </a:r>
            <a:r>
              <a:rPr sz="1600" b="0">
                <a:solidFill>
                  <a:srgbClr val="2E3B41"/>
                </a:solidFill>
                <a:latin typeface="Calibri"/>
              </a:rPr>
              <a:t> onde 2x + 5 zera? Esse é o x do vértice.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97280"/>
            <a:ext cx="658368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2E3B41"/>
                </a:solidFill>
                <a:latin typeface="Calibri"/>
              </a:rPr>
              <a:t>Agora é com vocês!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6583680" cy="115313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dirty="0" err="1">
                <a:solidFill>
                  <a:srgbClr val="5F6B70"/>
                </a:solidFill>
                <a:latin typeface="Calibri"/>
              </a:rPr>
              <a:t>Resolvam</a:t>
            </a:r>
            <a:r>
              <a:rPr sz="2100" b="0" dirty="0">
                <a:solidFill>
                  <a:srgbClr val="5F6B70"/>
                </a:solidFill>
                <a:latin typeface="Calibri"/>
              </a:rPr>
              <a:t> a </a:t>
            </a:r>
            <a:r>
              <a:rPr sz="2100" b="1" dirty="0">
                <a:solidFill>
                  <a:srgbClr val="5F6B70"/>
                </a:solidFill>
                <a:latin typeface="Calibri"/>
              </a:rPr>
              <a:t>Lista 1</a:t>
            </a:r>
            <a:r>
              <a:rPr lang="pt-BR" sz="2100" b="1" dirty="0">
                <a:solidFill>
                  <a:srgbClr val="5F6B70"/>
                </a:solidFill>
                <a:latin typeface="Calibri"/>
              </a:rPr>
              <a:t>4</a:t>
            </a:r>
            <a:r>
              <a:rPr sz="2100" b="1" dirty="0">
                <a:solidFill>
                  <a:srgbClr val="5F6B70"/>
                </a:solidFill>
                <a:latin typeface="Calibri"/>
              </a:rPr>
              <a:t> – </a:t>
            </a:r>
            <a:r>
              <a:rPr sz="2100" b="1" dirty="0" err="1">
                <a:solidFill>
                  <a:srgbClr val="5F6B70"/>
                </a:solidFill>
                <a:latin typeface="Calibri"/>
              </a:rPr>
              <a:t>Função</a:t>
            </a:r>
            <a:r>
              <a:rPr sz="2100" b="1" dirty="0">
                <a:solidFill>
                  <a:srgbClr val="5F6B70"/>
                </a:solidFill>
                <a:latin typeface="Calibri"/>
              </a:rPr>
              <a:t> Modular</a:t>
            </a:r>
            <a:r>
              <a:rPr sz="2100" b="0" dirty="0">
                <a:solidFill>
                  <a:srgbClr val="5F6B70"/>
                </a:solidFill>
                <a:latin typeface="Calibri"/>
              </a:rPr>
              <a:t>:</a:t>
            </a:r>
          </a:p>
          <a:p>
            <a:pPr algn="l">
              <a:spcAft>
                <a:spcPts val="1000"/>
              </a:spcAft>
            </a:pPr>
            <a:r>
              <a:rPr sz="2100" b="0" dirty="0">
                <a:solidFill>
                  <a:srgbClr val="5F6B70"/>
                </a:solidFill>
                <a:latin typeface="Calibri"/>
              </a:rPr>
              <a:t>11 </a:t>
            </a:r>
            <a:r>
              <a:rPr sz="2100" b="0" dirty="0" err="1">
                <a:solidFill>
                  <a:srgbClr val="5F6B70"/>
                </a:solidFill>
                <a:latin typeface="Calibri"/>
              </a:rPr>
              <a:t>questões</a:t>
            </a:r>
            <a:r>
              <a:rPr sz="2100" b="0" dirty="0">
                <a:solidFill>
                  <a:srgbClr val="5F6B70"/>
                </a:solidFill>
                <a:latin typeface="Calibri"/>
              </a:rPr>
              <a:t> de </a:t>
            </a:r>
            <a:r>
              <a:rPr sz="2100" b="0" dirty="0" err="1">
                <a:solidFill>
                  <a:srgbClr val="5F6B70"/>
                </a:solidFill>
                <a:latin typeface="Calibri"/>
              </a:rPr>
              <a:t>gráfico</a:t>
            </a:r>
            <a:r>
              <a:rPr sz="2100" b="0" dirty="0">
                <a:solidFill>
                  <a:srgbClr val="5F6B70"/>
                </a:solidFill>
                <a:latin typeface="Calibri"/>
              </a:rPr>
              <a:t> e </a:t>
            </a:r>
            <a:r>
              <a:rPr sz="2100" b="0" dirty="0" err="1">
                <a:solidFill>
                  <a:srgbClr val="5F6B70"/>
                </a:solidFill>
                <a:latin typeface="Calibri"/>
              </a:rPr>
              <a:t>equação</a:t>
            </a:r>
            <a:r>
              <a:rPr sz="2100" b="0" dirty="0">
                <a:solidFill>
                  <a:srgbClr val="5F6B70"/>
                </a:solidFill>
                <a:latin typeface="Calibri"/>
              </a:rPr>
              <a:t> modular, </a:t>
            </a:r>
            <a:r>
              <a:rPr sz="2100" b="0" dirty="0" err="1">
                <a:solidFill>
                  <a:srgbClr val="5F6B70"/>
                </a:solidFill>
                <a:latin typeface="Calibri"/>
              </a:rPr>
              <a:t>incluindo</a:t>
            </a:r>
            <a:r>
              <a:rPr sz="2100" b="0" dirty="0">
                <a:solidFill>
                  <a:srgbClr val="5F6B70"/>
                </a:solidFill>
                <a:latin typeface="Calibri"/>
              </a:rPr>
              <a:t> as </a:t>
            </a:r>
            <a:r>
              <a:rPr sz="2100" b="0" dirty="0" err="1">
                <a:solidFill>
                  <a:srgbClr val="5F6B70"/>
                </a:solidFill>
                <a:latin typeface="Calibri"/>
              </a:rPr>
              <a:t>que</a:t>
            </a:r>
            <a:r>
              <a:rPr sz="2100" b="0" dirty="0">
                <a:solidFill>
                  <a:srgbClr val="5F6B70"/>
                </a:solidFill>
                <a:latin typeface="Calibri"/>
              </a:rPr>
              <a:t> </a:t>
            </a:r>
            <a:r>
              <a:rPr sz="2100" b="0" dirty="0" err="1">
                <a:solidFill>
                  <a:srgbClr val="5F6B70"/>
                </a:solidFill>
                <a:latin typeface="Calibri"/>
              </a:rPr>
              <a:t>já</a:t>
            </a:r>
            <a:r>
              <a:rPr sz="2100" b="0" dirty="0">
                <a:solidFill>
                  <a:srgbClr val="5F6B70"/>
                </a:solidFill>
                <a:latin typeface="Calibri"/>
              </a:rPr>
              <a:t> </a:t>
            </a:r>
            <a:r>
              <a:rPr sz="2100" b="0" dirty="0" err="1">
                <a:solidFill>
                  <a:srgbClr val="5F6B70"/>
                </a:solidFill>
                <a:latin typeface="Calibri"/>
              </a:rPr>
              <a:t>caíram</a:t>
            </a:r>
            <a:r>
              <a:rPr sz="2100" b="0" dirty="0">
                <a:solidFill>
                  <a:srgbClr val="5F6B70"/>
                </a:solidFill>
                <a:latin typeface="Calibri"/>
              </a:rPr>
              <a:t> no </a:t>
            </a:r>
            <a:r>
              <a:rPr sz="2100" b="0" dirty="0" err="1">
                <a:solidFill>
                  <a:srgbClr val="5F6B70"/>
                </a:solidFill>
                <a:latin typeface="Calibri"/>
              </a:rPr>
              <a:t>Edros</a:t>
            </a:r>
            <a:r>
              <a:rPr sz="2100" b="0" dirty="0">
                <a:solidFill>
                  <a:srgbClr val="5F6B70"/>
                </a:solidFill>
                <a:latin typeface="Calibri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931920"/>
            <a:ext cx="6035040" cy="91440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950208"/>
            <a:ext cx="5760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19598"/>
                </a:solidFill>
                <a:latin typeface="Calibri"/>
              </a:rPr>
              <a:t>Lembre:</a:t>
            </a:r>
            <a:r>
              <a:rPr sz="1800" b="0">
                <a:solidFill>
                  <a:srgbClr val="2E3B41"/>
                </a:solidFill>
                <a:latin typeface="Calibri"/>
              </a:rPr>
              <a:t> dentro do módulo → horizontal; fora → vertical.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822960"/>
            <a:ext cx="4023360" cy="4892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89520" y="822960"/>
            <a:ext cx="4023360" cy="384048"/>
          </a:xfrm>
          <a:prstGeom prst="rect">
            <a:avLst/>
          </a:prstGeom>
          <a:solidFill>
            <a:srgbClr val="019598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Apresentação e lista no site</a:t>
            </a:r>
          </a:p>
        </p:txBody>
      </p:sp>
      <p:pic>
        <p:nvPicPr>
          <p:cNvPr id="8" name="Picture 7" descr="qr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325880"/>
            <a:ext cx="3017520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4434840"/>
            <a:ext cx="39319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E3B41"/>
                </a:solidFill>
                <a:latin typeface="Calibri"/>
              </a:rPr>
              <a:t>Aponte a câmera do celular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846320"/>
            <a:ext cx="393192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19598"/>
                </a:solidFill>
                <a:latin typeface="Calibri"/>
              </a:rPr>
              <a:t>grupo-foco.github.io/Listas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1957</TotalTime>
  <Words>1830</Words>
  <Application>Microsoft Macintosh PowerPoint</Application>
  <PresentationFormat>Widescreen</PresentationFormat>
  <Paragraphs>179</Paragraphs>
  <Slides>17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rodolfo cavalcante</dc:creator>
  <cp:lastModifiedBy>rodolfo cavalcante</cp:lastModifiedBy>
  <cp:revision>46</cp:revision>
  <dcterms:created xsi:type="dcterms:W3CDTF">2023-04-23T12:43:54Z</dcterms:created>
  <dcterms:modified xsi:type="dcterms:W3CDTF">2026-10-06T02:19:43Z</dcterms:modified>
</cp:coreProperties>
</file>