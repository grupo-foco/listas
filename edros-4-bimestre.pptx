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6"/>
    <p:sldId id="269" r:id="rId5"/>
    <p:sldId id="270" r:id="rId4"/>
    <p:sldId id="271" r:id="rId3"/>
    <p:sldId id="272" r:id="rId2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7.xml"/><Relationship Id="rId3" Type="http://schemas.openxmlformats.org/officeDocument/2006/relationships/slide" Target="slides/slide16.xml"/><Relationship Id="rId4" Type="http://schemas.openxmlformats.org/officeDocument/2006/relationships/slide" Target="slides/slide15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30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Apresentação para corrigir e discutir as 20 questões de Matemática do simulado. As questões estão agrupadas em 6 blocos; em cada questão, o clique seguinte mostra a resolução.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Cada cartão é clicável e leva à abertura do bloco. As questões seguem a ordem dos blocos.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Bloco 1: Funções exponenciais. Ideia central: Igualar as bases · se a base está entre 0 e 1, a desigualdade se inverte.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72 (Equação exponencial). Deixe a turma votar; CLIQUE para mostrar a resolução. Para discutir: Como escrever 128 como uma potência de 2? | Resolução: 5 · 2t = 640 | 2t = 640 ÷ 5 = 128 | 2t = 27  ⇒  t = 7. Resposta: c) 7. Erro comum: Parar em 2t = 128 e marcar 128 (alternativa e).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74 (Inequação exponencial). Deixe a turma votar; CLIQUE para mostrar a resolução. Para discutir: Qual é o primeiro minuto inteiro em que L(t) fica abaixo de 13%? | Resolução: L(t) = 100 · (0,5)t: a luz cai pela metade a cada minuto | L(1) = 50%  ·  L(2) = 25%  ·  L(3) = 12,5% | 12,5% &lt; 13%  ⇒  a partir de 3 minutos. Resposta: c) 3. Erro comum: Confundir o limite de 13% com o tempo (alternativa e).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83 (Equação exponencial). Deixe a turma votar; CLIQUE para mostrar a resolução. Para discutir: Como escrever 3t+1 e 3t−1 usando 3t? | Resolução: 3t+1 = 3 · 3t  e  3t−1 = 3t ÷ 3 | 3t · (3 − 1/3) = 216  ⇒  3t · 8/3 = 216 | 3t = 81 = 34  ⇒  t = 4. Resposta: c) 4 horas. Erro comum: Subtrair os expoentes: (t + 1) − (t − 1) = 2.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88 (Exponencial pelo gráfico). Deixe a turma votar; CLIQUE para mostrar a resolução. Para discutir: Pelo gráfico, o que acontece com a quantidade a cada hora? | Resolução: A(0, 100)  ⇒  a = 100;  B(1, 200)  ⇒  b = 2 | Q(t) = 100 · 2t  (confere: Q(2) = 400 ✓) | 4ª medição em t = 5 h: Q(5) = 100 · 25 = 3 200. Resposta: e) 3 200. Erro comum: Calcular Q(4) = 1 600: a 4ª medição é em t = 5 h.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90 (Inequação exponencial). Deixe a turma votar; CLIQUE para mostrar a resolução. Para discutir: Escreva 0,81 como potência de 0,9. O que acontece com a desigualdade? | Resolução: 100 · 0,9d ≥ 81  ⇒  0,9d ≥ 0,81 = 0,92 | Base entre 0 e 1: a função é decrescente, então a desigualdade se inverte | d ≤ 2  ⇒  distância máxima de 2 m. Resposta: c) 2,0. Erro comum: Não inverter o sinal e concluir que d ≥ 2.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Bloco 2: Sequências e P.A.. Ideia central: Termo geral: an = a1 + (n − 1) · r · olhar as diferenças entre os termos.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75 (Progressão aritmética). Deixe a turma votar; CLIQUE para mostrar a resolução. Para discutir: Qual é a razão dessa P.A.? Como descobrir? | Resolução: a1 = 18 e a9 = 90 | a9 = a1 + 8r  ⇒  90 = 18 + 8r  ⇒  r = 9 | 162 = 18 + (n − 1) · 9  ⇒  n − 1 = 16  ⇒  n = 17. Resposta: c) 17º. Erro comum: Errar o (n − 1) do termo geral e chegar ao 18º mês.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79 (Lei de formação). Deixe a turma votar; CLIQUE para mostrar a resolução. Para discutir: As diferenças entre as semanas são constantes? E as diferenças das diferenças? | Resolução: Diferenças: 5, 7, 9 → crescem 2 a cada semana  ⇒  lei do 2º grau | Teste de e) an = n² + 2n + 2: 5, 10, 17, 26 ✓ | d) falha: a2 = 4 + 2 + 2 = 8 ≠ 10. Resposta: e) an = n² + 2n + 2. Erro comum: Testar só a 1ª semana: b) e e) dão 5 para n = 1.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85 (P.A. (aplicação)), parte 1. Avance para a continuação do enunciado.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85 (P.A. (aplicação)). Deixe a turma votar; CLIQUE para mostrar a resolução. Para discutir: Quanto o desenho cresce a cada círculo novo? | Resolução: De 5 para 10 círculos: 19,6 − 10,6 = 9 cm  ⇒  1,8 cm por círculo | C(n) = 10,6 + (n − 5) · 1,8 ≤ 445 cm | n − 5 ≤ 241,3  ⇒  n − 5 = 241  ⇒  n = 246. Resposta: d) 246. Erro comum: Usar 9 cm por círculo: os 9 cm correspondem a 5 círculos.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Bloco 3: Módulo. Ideia central: |A| = c gera dois casos · o módulo rebate para cima a parte negativa do gráfico.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77 (Equação modular). Deixe a turma votar; CLIQUE para mostrar a resolução. Para discutir: Uma equação do tipo |A| = 150 gera quantos casos? | Resolução: 5v − 100 = 150  ⇒  v = 50 | 5v − 100 = −150  ⇒  v = −10 | Cashback não pode ser negativo  ⇒  v = 50. Resposta: e) 50. Erro comum: Resolver só um caso ou não descartar a solução negativa.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84 (Função modular). Deixe a turma votar; CLIQUE para mostrar a resolução. Para discutir: Onde fica o “bico” do M? O gráfico pode descer abaixo do eixo x? | Resolução: x = 0  ⇒  y = 4: bico acima da origem (elimina b e d) | Para x ≥ 0: parábola −x² + 5x + 4, vértice (2,5; 10,25): arcos curvos (elimina a) | Raízes ≈ ±5,7 e y ≥ 0: o gráfico termina no eixo x (elimina c). Resposta: e) . Erro comum: Ignorar a condição y ≥ 0 e marcar c).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Bloco 4: Médias. Ideia central: Média × quantidade = soma · na ponderada, divide-se pela soma dos pesos.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71 (Média geométrica). Deixe a turma votar; CLIQUE para mostrar a resolução. Para discutir: O que é média geométrica? Em que ela difere da média aritmética? | Resolução: Média geométrica de dois valores: MG = √(a · b) | MG = √(49 · 81) = √49 · √81 | MG = 7 · 9 = 63 → desempenho de 63%. Resposta: d) 63%. Erro comum: Usar a média aritmética: (49 + 81) ÷ 2 = 65% (alternativa e).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82 (Média aritmética). Deixe a turma votar; CLIQUE para mostrar a resolução. Para discutir: Se a média de 3 veículos é 40 L, qual é a soma dos consumos? | Resolução: I + II + III = 3 · 40 = 120  ⇒  I + II = 80 | III + IV + V = 3 · 44 = 132  ⇒  IV + V = 92 | Média = (80 + 92) ÷ 4 = 43 L. Resposta: d) 43 L. Erro comum: Fazer a média das médias: (40 + 44) ÷ 2 = 42 L.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87 (Média ponderada). Deixe a turma votar; CLIQUE para mostrar a resolução. Para discutir: Como se monta uma média ponderada? Por quanto dividimos? | Resolução: Soma dos pesos: 5 + 3 + 2 = 10 | A: (7·5 + 9·3 + 8·2) ÷ 10 = 78 ÷ 10 = 7,8 | B: (9·5 + 6·3 + 7·2) ÷ 10 = 77 ÷ 10 = 7,7  ⇒  escolhe A. Resposta: d) 7,8. Erro comum: Dividir pelo número de critérios (3) em vez da soma dos pesos.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89 (Média aritmética). Deixe a turma votar; CLIQUE para mostrar a resolução. Para discutir: Como muda a soma das idades quando a média sobe 1 ano? | Resolução: Soma inicial: 4 · 15 = 60 | Nova soma: 5 · 16 = 80 | Idade do novo atleta: 80 − 60 = 20. Resposta: d) 20. Erro comum: Achar que o novo atleta tem 16 anos (a nova média).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Bloco 5: Moda e mediana. Ideia central: Ordenar os dados antes da mediana · moda é o valor mais frequente.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76 (Moda e mediana). Deixe a turma votar; CLIQUE para mostrar a resolução. Para discutir: Antes de achar a mediana, o que precisamos fazer com os dados? | Resolução: Em ordem: 1, 2, 2, 3, 4, 4, 5, 5, 5, 5 | Moda = 5 (aparece 4 vezes) | Mediana = (4 + 4) ÷ 2 = 4 (10 dados: média dos dois centrais) | Moda = 5 e mediana ≥ 4  ⇒  boa satisfação. Resposta: a) Sim: moda 5,0 e mediana 4,0. Erro comum: Calcular a mediana sem colocar os dados em ordem.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80 (Moda e mediana). Deixe a turma votar; CLIQUE para mostrar a resolução. Para discutir: Com 7 dados, qual posição ocupa a mediana? | Resolução: Em ordem: 90, 120, 120, 120, 150, 180, 210 | Moda = 120 (aparece 3 vezes) | Mediana = 4º termo = 120. Resposta: c) 120 e 120. Erro comum: Pegar o valor do meio da tabela (quinta-feira = 90) sem ordenar.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86 (Moda e mediana). Deixe a turma votar; CLIQUE para mostrar a resolução. Para discutir: Que valor de x faz a moda e a mediana serem iguais a x? | Resolução: Sem o 14º dia: o 2 aparece 3 vezes e o 4 aparece 4 vezes | x = 4  ⇒  o 4 vira a moda (5 vezes) | 8º dado em ordem = 4 = mediana ✓. Resposta: b) 4. Erro comum: Escolher x = 2: o enunciado diz que as vendas superaram duas unidades.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Bloco 6: Geometria e transformações. Ideia central: Rotação de 90° · reflexão no eixo y troca o sinal do x.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73 (Ângulos internos). Deixe a turma votar; CLIQUE para mostrar a resolução. Para discutir: Quais vértices apontam “para dentro”? Quanto mede o ângulo interno nesses pontos? | Resolução: Lados inclinados são diagonais de quadradinhos: formam 45° com a malha | Pontas: 45°  ·  bordas de cima e de baixo: 90° + 45° = 135° | Vértices côncavos: a região externa mede 135°, então o interno mede 360° − 135° = 225° | Conferência: 2·45° + 4·135° + 2·225° = 1080° = (8 − 2)·180°. Resposta: e) 225. Erro comum: Esquecer que o octógono é côncavo e marcar 135°.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Questão 78. 1º clique: aparece a resolução com o painel de giros. Cliques 2 a 5: cada E aparece na orientação do anterior e gira 90° no sentido anti-horário (esquerda → baixo → direita → cima → esquerda). Pergunte à turma, antes de cada clique, para onde as pernas do E vão apontar. 6º clique: resposta d) e o alerta de que girar no sentido horário leva à alternativa e).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Questão 81 (Simetria no plano). Deixe a turma votar; CLIQUE para mostrar a resolução. Para discutir: Qual é o eixo de simetria do campo? O que muda num ponto refletido nesse eixo? | Resolução: Jardineiro direito: (25, 60), no 1º quadrante | Reflexão no eixo y: o x troca de sinal e o y se mantém | (25, 60)  →  (−25, 60). Resposta: e) (−25, 60). Erro comum: Inverter a ordem das coordenadas: (60, 25) ou (60, −25).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DA89E-B51C-4358-885E-9E5D14520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E5F490-26C9-4FF2-866B-7BD1E3711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2BCC17-C441-4146-B80E-F8FBE14E2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7C8D24-4618-4C12-9780-C8B0DDA93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B624FD-7E9F-4C41-A98C-5D4733751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9090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B471EA-777C-4FF1-B340-9F4B28CA2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E74396-48C4-43F3-A88C-0E7695B19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957A99-F168-434B-B970-FB22F2154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90781F-4E32-42FF-AFF0-695C536CC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9E75AC-9B33-49F4-A6C1-124F70F1E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1265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86E9C-4D7F-4946-A11F-12EE38814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8A6482-BA6F-4541-9ABD-5BE376565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A174A5-2C49-413E-9EC6-D7AA0BC79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FBECCE-693B-41DD-9B74-86EA6036A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8F6744-6EC9-4AA4-B4C1-2497EAF2F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2544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A6C003-4B3D-43A1-B20C-020FDB7B1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92763E-498A-4E23-A38B-A5F0EE954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626DAA8-9968-482D-BAC5-A7D721EB3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BA1D9B-2FDB-4749-B2BA-CCD66753B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022892-E37D-44D7-93B5-DCC9D1C27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26C132-F38B-4288-A841-5DEA0FC17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248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0E483-1D15-4492-8078-D65355B8C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107A48-CAF0-47D0-A0FB-8CF7DD4C0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BE6738-71D9-4472-BFCF-75670DBA4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28ADE1A-6941-4726-80B2-11DAA45D6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4CE548A-FB5A-43F1-80A4-B46503EF47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E3CDCE8-0ABC-42C7-9107-D23F2CE8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35C2982-A2CD-4BCE-A685-8FBA4A6B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E0D9613-0911-476F-9B57-FB593E4CF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4281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DC863-85E5-4F44-A019-F90DC6880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93AA7DF-8AAC-4D53-99C2-A1DD09FF7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CEAF71B-BB45-4DD0-8D9A-6BA356963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BFE26E8-01F6-4991-9B87-CD3094C31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913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C85F117-7372-4D47-A43F-620338154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C2F62E6-19A7-421A-BAD7-8707915D5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1F7DB7-CD49-449A-973A-153BAE998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1886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91493-7465-4610-B398-6D14DA2FC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10CBE0-22CD-4965-9FAC-82497A745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702AFA-78C7-474B-8289-E549C930A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9C01CB-919F-4AE5-A77F-58439B3F4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619C6C-130B-42F0-8C3C-98BE51A50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65A346-7AC4-432E-A00A-1B13DD1C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5724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4AC7FB-4D00-4813-81D0-70DD8E128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4E47C94-D52C-44A5-87C7-82AFE4AC91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E57523-7FEB-44B9-A066-9B2635167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D8F0E5-6C48-489C-95A1-4012477A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AB0634-A235-477E-90AA-2914AEA91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8EAEDA-0A5F-4FEF-B6FD-B80A253E4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6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F5CB9-88A6-448E-8022-A73F9A75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F168BAE-F3D2-4FF7-92C8-14FAA4B9A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EC32A8-7A94-40E3-9D77-5C73A8955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1EB01F-2252-48CE-91D8-388C7B563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FB7B58-5472-4CF7-9DDB-800C48CE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938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CC5036-55CC-4489-90C2-2B01C1CEB9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A25EBFD-95BC-41EB-992E-AF1C02774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D641C6-F7C5-4C15-AB6C-638DF486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615B1E-A2E4-4470-8BB6-9248637D0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C9FB7D-367F-4235-BA3D-6B9A1D10F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1487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83D3FD6F-77C1-854A-9E1E-97CF9793F1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340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BE49705-4511-43A5-9375-616169F17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7C9B27-3835-4E0F-915D-6A43A5F4D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F15586-4EB3-4F46-952A-802B6F5C80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9B03E-8657-4B46-B3D0-9766C099D90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8CFFFD-CB9C-4A75-BD2D-6548D2A3AC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EC7636-2410-4C45-93C4-23A33FE99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2FE21-4B6D-4471-9D12-038C3702DB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5533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9.xml"/><Relationship Id="rId5" Type="http://schemas.openxmlformats.org/officeDocument/2006/relationships/slide" Target="slide14.xml"/><Relationship Id="rId6" Type="http://schemas.openxmlformats.org/officeDocument/2006/relationships/slide" Target="slide17.xml"/><Relationship Id="rId7" Type="http://schemas.openxmlformats.org/officeDocument/2006/relationships/slide" Target="slide22.xml"/><Relationship Id="rId8" Type="http://schemas.openxmlformats.org/officeDocument/2006/relationships/slide" Target="slide2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" Target="slide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280160"/>
            <a:ext cx="3291840" cy="411480"/>
          </a:xfrm>
          <a:prstGeom prst="roundRect">
            <a:avLst>
              <a:gd name="adj" fmla="val 50000"/>
            </a:avLst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9598"/>
                </a:solidFill>
                <a:latin typeface="Calibri"/>
              </a:rPr>
              <a:t>MATEMÁTICA · 1ª SÉRIE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80000"/>
            <a:ext cx="5900000" cy="100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2E3B41"/>
                </a:solidFill>
                <a:latin typeface="Calibri"/>
              </a:rPr>
              <a:t>Simulado Edros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5900000" cy="70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19598"/>
                </a:solidFill>
                <a:latin typeface="Calibri"/>
              </a:rPr>
              <a:t>4ª Avaliação · Questões 71 a 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520000"/>
            <a:ext cx="54864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6B70"/>
                </a:solidFill>
                <a:latin typeface="Calibri"/>
              </a:rPr>
              <a:t>Correção comentada e discussão em sala.</a:t>
            </a:r>
          </a:p>
        </p:txBody>
      </p:sp>
      <p:pic>
        <p:nvPicPr>
          <p:cNvPr id="6" name="Picture 5" descr="c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81328"/>
            <a:ext cx="5120640" cy="31051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327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Roteiro da correção</a:t>
            </a:r>
          </a:p>
        </p:txBody>
      </p:sp>
      <p:sp>
        <p:nvSpPr>
          <p:cNvPr id="3" name="Bloco 1">
            <a:hlinkClick action="ppaction://hlinksldjump" r:id="rId3"/>
          </p:cNvPr>
          <p:cNvSpPr/>
          <p:nvPr/>
        </p:nvSpPr>
        <p:spPr>
          <a:xfrm>
            <a:off x="548640" y="1188720"/>
            <a:ext cx="35661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>
            <a:hlinkClick action="ppaction://hlinksldjump" r:id="rId3"/>
          </p:cNvPr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>
            <a:hlinkClick action="ppaction://hlinksldjump" r:id="rId3"/>
          </p:cNvPr>
          <p:cNvSpPr txBox="1"/>
          <p:nvPr/>
        </p:nvSpPr>
        <p:spPr>
          <a:xfrm>
            <a:off x="1417320" y="1417320"/>
            <a:ext cx="26061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3B41"/>
                </a:solidFill>
                <a:latin typeface="Calibri"/>
              </a:rPr>
              <a:t>Funções exponenciais</a:t>
            </a:r>
          </a:p>
        </p:txBody>
      </p:sp>
      <p:sp>
        <p:nvSpPr>
          <p:cNvPr id="6" name="TextBox 5">
            <a:hlinkClick action="ppaction://hlinksldjump" r:id="rId3"/>
          </p:cNvPr>
          <p:cNvSpPr txBox="1"/>
          <p:nvPr/>
        </p:nvSpPr>
        <p:spPr>
          <a:xfrm>
            <a:off x="777240" y="2194560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F6B70"/>
                </a:solidFill>
                <a:latin typeface="Calibri"/>
              </a:rPr>
              <a:t>Q72 · Q74 · Q83 · Q88 · Q90</a:t>
            </a:r>
          </a:p>
        </p:txBody>
      </p:sp>
      <p:sp>
        <p:nvSpPr>
          <p:cNvPr id="7" name="Bloco 2">
            <a:hlinkClick action="ppaction://hlinksldjump" r:id="rId4"/>
          </p:cNvPr>
          <p:cNvSpPr/>
          <p:nvPr/>
        </p:nvSpPr>
        <p:spPr>
          <a:xfrm>
            <a:off x="4297680" y="1188720"/>
            <a:ext cx="35661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>
            <a:hlinkClick action="ppaction://hlinksldjump" r:id="rId4"/>
          </p:cNvPr>
          <p:cNvSpPr/>
          <p:nvPr/>
        </p:nvSpPr>
        <p:spPr>
          <a:xfrm>
            <a:off x="4526280" y="1463040"/>
            <a:ext cx="502920" cy="50292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>
            <a:hlinkClick action="ppaction://hlinksldjump" r:id="rId4"/>
          </p:cNvPr>
          <p:cNvSpPr txBox="1"/>
          <p:nvPr/>
        </p:nvSpPr>
        <p:spPr>
          <a:xfrm>
            <a:off x="5166360" y="1417320"/>
            <a:ext cx="26061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3B41"/>
                </a:solidFill>
                <a:latin typeface="Calibri"/>
              </a:rPr>
              <a:t>Sequências e P.A.</a:t>
            </a:r>
          </a:p>
        </p:txBody>
      </p:sp>
      <p:sp>
        <p:nvSpPr>
          <p:cNvPr id="10" name="TextBox 9">
            <a:hlinkClick action="ppaction://hlinksldjump" r:id="rId4"/>
          </p:cNvPr>
          <p:cNvSpPr txBox="1"/>
          <p:nvPr/>
        </p:nvSpPr>
        <p:spPr>
          <a:xfrm>
            <a:off x="4526280" y="2194560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F6B70"/>
                </a:solidFill>
                <a:latin typeface="Calibri"/>
              </a:rPr>
              <a:t>Q75 · Q79 · Q85</a:t>
            </a:r>
          </a:p>
        </p:txBody>
      </p:sp>
      <p:sp>
        <p:nvSpPr>
          <p:cNvPr id="11" name="Bloco 3">
            <a:hlinkClick action="ppaction://hlinksldjump" r:id="rId5"/>
          </p:cNvPr>
          <p:cNvSpPr/>
          <p:nvPr/>
        </p:nvSpPr>
        <p:spPr>
          <a:xfrm>
            <a:off x="8046720" y="1188720"/>
            <a:ext cx="35661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>
            <a:hlinkClick action="ppaction://hlinksldjump" r:id="rId5"/>
          </p:cNvPr>
          <p:cNvSpPr/>
          <p:nvPr/>
        </p:nvSpPr>
        <p:spPr>
          <a:xfrm>
            <a:off x="8275320" y="1463040"/>
            <a:ext cx="502920" cy="50292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>
            <a:hlinkClick action="ppaction://hlinksldjump" r:id="rId5"/>
          </p:cNvPr>
          <p:cNvSpPr txBox="1"/>
          <p:nvPr/>
        </p:nvSpPr>
        <p:spPr>
          <a:xfrm>
            <a:off x="8915400" y="1417320"/>
            <a:ext cx="26061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3B41"/>
                </a:solidFill>
                <a:latin typeface="Calibri"/>
              </a:rPr>
              <a:t>Módulo</a:t>
            </a:r>
          </a:p>
        </p:txBody>
      </p:sp>
      <p:sp>
        <p:nvSpPr>
          <p:cNvPr id="14" name="TextBox 13">
            <a:hlinkClick action="ppaction://hlinksldjump" r:id="rId5"/>
          </p:cNvPr>
          <p:cNvSpPr txBox="1"/>
          <p:nvPr/>
        </p:nvSpPr>
        <p:spPr>
          <a:xfrm>
            <a:off x="8275320" y="2194560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F6B70"/>
                </a:solidFill>
                <a:latin typeface="Calibri"/>
              </a:rPr>
              <a:t>Q77 · Q84</a:t>
            </a:r>
          </a:p>
        </p:txBody>
      </p:sp>
      <p:sp>
        <p:nvSpPr>
          <p:cNvPr id="15" name="Bloco 4">
            <a:hlinkClick action="ppaction://hlinksldjump" r:id="rId6"/>
          </p:cNvPr>
          <p:cNvSpPr/>
          <p:nvPr/>
        </p:nvSpPr>
        <p:spPr>
          <a:xfrm>
            <a:off x="548640" y="3337560"/>
            <a:ext cx="35661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>
            <a:hlinkClick action="ppaction://hlinksldjump" r:id="rId6"/>
          </p:cNvPr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>
            <a:hlinkClick action="ppaction://hlinksldjump" r:id="rId6"/>
          </p:cNvPr>
          <p:cNvSpPr txBox="1"/>
          <p:nvPr/>
        </p:nvSpPr>
        <p:spPr>
          <a:xfrm>
            <a:off x="1417320" y="3566160"/>
            <a:ext cx="26061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3B41"/>
                </a:solidFill>
                <a:latin typeface="Calibri"/>
              </a:rPr>
              <a:t>Médias</a:t>
            </a:r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777240" y="4343400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F6B70"/>
                </a:solidFill>
                <a:latin typeface="Calibri"/>
              </a:rPr>
              <a:t>Q71 · Q82 · Q87 · Q89</a:t>
            </a:r>
          </a:p>
        </p:txBody>
      </p:sp>
      <p:sp>
        <p:nvSpPr>
          <p:cNvPr id="19" name="Bloco 5">
            <a:hlinkClick action="ppaction://hlinksldjump" r:id="rId7"/>
          </p:cNvPr>
          <p:cNvSpPr/>
          <p:nvPr/>
        </p:nvSpPr>
        <p:spPr>
          <a:xfrm>
            <a:off x="4297680" y="3337560"/>
            <a:ext cx="35661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>
            <a:hlinkClick action="ppaction://hlinksldjump" r:id="rId7"/>
          </p:cNvPr>
          <p:cNvSpPr/>
          <p:nvPr/>
        </p:nvSpPr>
        <p:spPr>
          <a:xfrm>
            <a:off x="4526280" y="3611880"/>
            <a:ext cx="502920" cy="50292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>
            <a:hlinkClick action="ppaction://hlinksldjump" r:id="rId7"/>
          </p:cNvPr>
          <p:cNvSpPr txBox="1"/>
          <p:nvPr/>
        </p:nvSpPr>
        <p:spPr>
          <a:xfrm>
            <a:off x="5166360" y="3566160"/>
            <a:ext cx="26061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3B41"/>
                </a:solidFill>
                <a:latin typeface="Calibri"/>
              </a:rPr>
              <a:t>Moda e mediana</a:t>
            </a:r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4526280" y="4343400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F6B70"/>
                </a:solidFill>
                <a:latin typeface="Calibri"/>
              </a:rPr>
              <a:t>Q76 · Q80 · Q86</a:t>
            </a:r>
          </a:p>
        </p:txBody>
      </p:sp>
      <p:sp>
        <p:nvSpPr>
          <p:cNvPr id="23" name="Bloco 6">
            <a:hlinkClick action="ppaction://hlinksldjump" r:id="rId8"/>
          </p:cNvPr>
          <p:cNvSpPr/>
          <p:nvPr/>
        </p:nvSpPr>
        <p:spPr>
          <a:xfrm>
            <a:off x="8046720" y="3337560"/>
            <a:ext cx="35661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>
            <a:hlinkClick action="ppaction://hlinksldjump" r:id="rId8"/>
          </p:cNvPr>
          <p:cNvSpPr/>
          <p:nvPr/>
        </p:nvSpPr>
        <p:spPr>
          <a:xfrm>
            <a:off x="8275320" y="3611880"/>
            <a:ext cx="502920" cy="50292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>
            <a:hlinkClick action="ppaction://hlinksldjump" r:id="rId8"/>
          </p:cNvPr>
          <p:cNvSpPr txBox="1"/>
          <p:nvPr/>
        </p:nvSpPr>
        <p:spPr>
          <a:xfrm>
            <a:off x="8915400" y="3566160"/>
            <a:ext cx="26061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3B41"/>
                </a:solidFill>
                <a:latin typeface="Calibri"/>
              </a:rPr>
              <a:t>Geometria e transformações</a:t>
            </a:r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8275320" y="4343400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F6B70"/>
                </a:solidFill>
                <a:latin typeface="Calibri"/>
              </a:rPr>
              <a:t>Q73 · Q78 · Q81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380000"/>
            <a:ext cx="11064240" cy="33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Calibri"/>
              </a:rPr>
              <a:t>Clique em um bloco para ir direto a ele.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188720"/>
            <a:ext cx="2100000" cy="411480"/>
          </a:xfrm>
          <a:prstGeom prst="roundRect">
            <a:avLst>
              <a:gd name="adj" fmla="val 50000"/>
            </a:avLst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9598"/>
                </a:solidFill>
                <a:latin typeface="Calibri"/>
              </a:rPr>
              <a:t>BLOCO 1 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0000"/>
            <a:ext cx="6400000" cy="140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2E3B41"/>
                </a:solidFill>
                <a:latin typeface="Calibri"/>
              </a:rPr>
              <a:t>Funções exponenciais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000000"/>
            <a:ext cx="6000000" cy="100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6B70"/>
                </a:solidFill>
                <a:latin typeface="Calibri"/>
              </a:rPr>
              <a:t>Igualar as bases · se a base está entre 0 e 1, a desigualdade se inverte.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188720"/>
            <a:ext cx="4023360" cy="33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0" y="1188720"/>
            <a:ext cx="4023360" cy="384048"/>
          </a:xfrm>
          <a:prstGeom prst="rect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Questões deste bloco</a:t>
            </a:r>
          </a:p>
        </p:txBody>
      </p:sp>
      <p:sp>
        <p:nvSpPr>
          <p:cNvPr id="7" name="Oval 6"/>
          <p:cNvSpPr/>
          <p:nvPr/>
        </p:nvSpPr>
        <p:spPr>
          <a:xfrm>
            <a:off x="7818120" y="173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9520" y="170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Equação exponencial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29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9520" y="226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Inequação exponencial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5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9520" y="282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Equação exponencial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1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9520" y="338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Exponencial pelo gráfico</a:t>
            </a:r>
          </a:p>
        </p:txBody>
      </p:sp>
      <p:sp>
        <p:nvSpPr>
          <p:cNvPr id="15" name="Oval 14"/>
          <p:cNvSpPr/>
          <p:nvPr/>
        </p:nvSpPr>
        <p:spPr>
          <a:xfrm>
            <a:off x="7818120" y="397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9520" y="394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Inequação exponencial</a:t>
            </a:r>
          </a:p>
        </p:txBody>
      </p:sp>
      <p:sp>
        <p:nvSpPr>
          <p:cNvPr id="17" name="Voltar ao roteiro">
            <a:hlinkClick action="ppaction://hlinksldjump" r:id="rId2"/>
          </p:cNvPr>
          <p:cNvSpPr/>
          <p:nvPr/>
        </p:nvSpPr>
        <p:spPr>
          <a:xfrm>
            <a:off x="685800" y="4850000"/>
            <a:ext cx="1900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9598"/>
                </a:solidFill>
                <a:latin typeface="Calibri"/>
              </a:rPr>
              <a:t>↩ Roteiro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522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72 · Equação exponencial</a:t>
            </a:r>
          </a:p>
        </p:txBody>
      </p:sp>
      <p:sp>
        <p:nvSpPr>
          <p:cNvPr id="3" name="Alt a"/>
          <p:cNvSpPr/>
          <p:nvPr/>
        </p:nvSpPr>
        <p:spPr>
          <a:xfrm>
            <a:off x="54864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0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5</a:t>
            </a:r>
          </a:p>
        </p:txBody>
      </p:sp>
      <p:sp>
        <p:nvSpPr>
          <p:cNvPr id="6" name="Alt b"/>
          <p:cNvSpPr/>
          <p:nvPr/>
        </p:nvSpPr>
        <p:spPr>
          <a:xfrm>
            <a:off x="278892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8036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08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6</a:t>
            </a:r>
          </a:p>
        </p:txBody>
      </p:sp>
      <p:sp>
        <p:nvSpPr>
          <p:cNvPr id="9" name="Alt c"/>
          <p:cNvSpPr/>
          <p:nvPr/>
        </p:nvSpPr>
        <p:spPr>
          <a:xfrm>
            <a:off x="502920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636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7</a:t>
            </a:r>
          </a:p>
        </p:txBody>
      </p:sp>
      <p:sp>
        <p:nvSpPr>
          <p:cNvPr id="12" name="Alt d"/>
          <p:cNvSpPr/>
          <p:nvPr/>
        </p:nvSpPr>
        <p:spPr>
          <a:xfrm>
            <a:off x="726948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6092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664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64</a:t>
            </a:r>
          </a:p>
        </p:txBody>
      </p:sp>
      <p:sp>
        <p:nvSpPr>
          <p:cNvPr id="15" name="Alt e"/>
          <p:cNvSpPr/>
          <p:nvPr/>
        </p:nvSpPr>
        <p:spPr>
          <a:xfrm>
            <a:off x="950976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692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128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005840"/>
            <a:ext cx="11064240" cy="396056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nunciado"/>
          <p:cNvSpPr txBox="1"/>
          <p:nvPr/>
        </p:nvSpPr>
        <p:spPr>
          <a:xfrm>
            <a:off x="731520" y="1143000"/>
            <a:ext cx="10698480" cy="3731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2E3B41"/>
                </a:solidFill>
                <a:latin typeface="Calibri"/>
              </a:rPr>
              <a:t>Uma influenciadora digital começou a produzir vídeos curtos para uma nova rede social. Na primeira semana, ela recebeu um relatório da plataforma informando que o número de novos seguidores crescia de forma exponencial, de modo que, sendo t o número de dias após a criação da conta, o total de seguidores pode ser modelado por S(t) = 5 · 2</a:t>
            </a:r>
            <a:r>
              <a:rPr sz="2300" b="0" baseline="30000">
                <a:solidFill>
                  <a:srgbClr val="2E3B41"/>
                </a:solidFill>
                <a:latin typeface="Calibri"/>
              </a:rPr>
              <a:t>t</a:t>
            </a:r>
            <a:r>
              <a:rPr sz="2300" b="0">
                <a:solidFill>
                  <a:srgbClr val="2E3B41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2E3B41"/>
                </a:solidFill>
                <a:latin typeface="Calibri"/>
              </a:rPr>
              <a:t>A influenciadora estabeleceu como meta atingir a marca de 640 seguidores para poder realizar sua primeira publicidade.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2E3B41"/>
                </a:solidFill>
                <a:latin typeface="Calibri"/>
              </a:rPr>
              <a:t>De acordo com o relatório da plataforma, quantos dias após a criação da conta ela poderá realizar sua primeira publicidade?</a:t>
            </a:r>
          </a:p>
        </p:txBody>
      </p:sp>
      <p:grpSp>
        <p:nvGrpSpPr>
          <p:cNvPr id="20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1" name="Rectangle 20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90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8640" y="1005840"/>
              <a:ext cx="6417259" cy="72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5800" y="1033272"/>
              <a:ext cx="6142939" cy="66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Como escrever 128 como uma potência de 2?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1908720"/>
              <a:ext cx="6417259" cy="38062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" y="1908720"/>
              <a:ext cx="6417259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5800" y="2384208"/>
              <a:ext cx="6142939" cy="328507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5 · 2</a:t>
              </a:r>
              <a:r>
                <a:rPr sz="2400" b="0" baseline="30000">
                  <a:solidFill>
                    <a:srgbClr val="2E3B41"/>
                  </a:solidFill>
                  <a:latin typeface="Calibri"/>
                </a:rPr>
                <a:t>t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= 640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2</a:t>
              </a:r>
              <a:r>
                <a:rPr sz="2400" b="0" baseline="30000">
                  <a:solidFill>
                    <a:srgbClr val="2E3B41"/>
                  </a:solidFill>
                  <a:latin typeface="Calibri"/>
                </a:rPr>
                <a:t>t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= 640 ÷ 5 = 128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2</a:t>
              </a:r>
              <a:r>
                <a:rPr sz="2400" b="0" baseline="30000">
                  <a:solidFill>
                    <a:srgbClr val="2E3B41"/>
                  </a:solidFill>
                  <a:latin typeface="Calibri"/>
                </a:rPr>
                <a:t>t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= 2</a:t>
              </a:r>
              <a:r>
                <a:rPr sz="2400" b="0" baseline="30000">
                  <a:solidFill>
                    <a:srgbClr val="2E3B41"/>
                  </a:solidFill>
                  <a:latin typeface="Calibri"/>
                </a:rPr>
                <a:t>7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 ⇒  </a:t>
              </a:r>
              <a:r>
                <a:rPr sz="2400" b="1">
                  <a:solidFill>
                    <a:srgbClr val="2E3B41"/>
                  </a:solidFill>
                  <a:latin typeface="Calibri"/>
                </a:rPr>
                <a:t>t = 7</a:t>
              </a:r>
            </a:p>
          </p:txBody>
        </p:sp>
        <p:sp>
          <p:nvSpPr>
            <p:cNvPr id="28" name="Resposta"/>
            <p:cNvSpPr/>
            <p:nvPr/>
          </p:nvSpPr>
          <p:spPr>
            <a:xfrm>
              <a:off x="7240219" y="1005840"/>
              <a:ext cx="4372661" cy="337628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77379" y="1060704"/>
              <a:ext cx="4098341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7379" y="1345840"/>
              <a:ext cx="4098341" cy="29762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5400" b="1">
                  <a:solidFill>
                    <a:srgbClr val="FFFFFF"/>
                  </a:solidFill>
                  <a:latin typeface="Calibri"/>
                </a:rPr>
                <a:t>c)  7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40219" y="4565000"/>
              <a:ext cx="4372661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77379" y="4610720"/>
              <a:ext cx="4098341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Parar em 2</a:t>
              </a:r>
              <a:r>
                <a:rPr sz="1500" b="0" baseline="30000">
                  <a:solidFill>
                    <a:srgbClr val="2E3B41"/>
                  </a:solidFill>
                  <a:latin typeface="Calibri"/>
                </a:rPr>
                <a:t>t</a:t>
              </a:r>
              <a:r>
                <a:rPr sz="1500" b="0">
                  <a:solidFill>
                    <a:srgbClr val="2E3B41"/>
                  </a:solidFill>
                  <a:latin typeface="Calibri"/>
                </a:rPr>
                <a:t> = 128 e marcar 128 (alternativa e).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552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74 · Inequação exponencial</a:t>
            </a:r>
          </a:p>
        </p:txBody>
      </p:sp>
      <p:sp>
        <p:nvSpPr>
          <p:cNvPr id="3" name="Alt a"/>
          <p:cNvSpPr/>
          <p:nvPr/>
        </p:nvSpPr>
        <p:spPr>
          <a:xfrm>
            <a:off x="54864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0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1</a:t>
            </a:r>
          </a:p>
        </p:txBody>
      </p:sp>
      <p:sp>
        <p:nvSpPr>
          <p:cNvPr id="6" name="Alt b"/>
          <p:cNvSpPr/>
          <p:nvPr/>
        </p:nvSpPr>
        <p:spPr>
          <a:xfrm>
            <a:off x="278892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8036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08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2</a:t>
            </a:r>
          </a:p>
        </p:txBody>
      </p:sp>
      <p:sp>
        <p:nvSpPr>
          <p:cNvPr id="9" name="Alt c"/>
          <p:cNvSpPr/>
          <p:nvPr/>
        </p:nvSpPr>
        <p:spPr>
          <a:xfrm>
            <a:off x="502920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636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3</a:t>
            </a:r>
          </a:p>
        </p:txBody>
      </p:sp>
      <p:sp>
        <p:nvSpPr>
          <p:cNvPr id="12" name="Alt d"/>
          <p:cNvSpPr/>
          <p:nvPr/>
        </p:nvSpPr>
        <p:spPr>
          <a:xfrm>
            <a:off x="726948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6092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664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4</a:t>
            </a:r>
          </a:p>
        </p:txBody>
      </p:sp>
      <p:sp>
        <p:nvSpPr>
          <p:cNvPr id="15" name="Alt e"/>
          <p:cNvSpPr/>
          <p:nvPr/>
        </p:nvSpPr>
        <p:spPr>
          <a:xfrm>
            <a:off x="950976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692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005840"/>
            <a:ext cx="11064240" cy="396056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nunciado"/>
          <p:cNvSpPr txBox="1"/>
          <p:nvPr/>
        </p:nvSpPr>
        <p:spPr>
          <a:xfrm>
            <a:off x="731520" y="1143000"/>
            <a:ext cx="10698480" cy="3731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2E3B41"/>
                </a:solidFill>
                <a:latin typeface="Calibri"/>
              </a:rPr>
              <a:t>Para economizar energia, um escritório instalou um sistema de iluminação inteligente nas salas. Assim que o sensor de presença deixa de detectar movimento, a intensidade da luz L(t), em porcentagem, começa a diminuir ao longo do tempo t, em minuto, seguindo a função L(t) = 100 · (0,5)</a:t>
            </a:r>
            <a:r>
              <a:rPr sz="2300" b="0" baseline="30000">
                <a:solidFill>
                  <a:srgbClr val="2E3B41"/>
                </a:solidFill>
                <a:latin typeface="Calibri"/>
              </a:rPr>
              <a:t>t</a:t>
            </a:r>
            <a:r>
              <a:rPr sz="2300" b="0">
                <a:solidFill>
                  <a:srgbClr val="2E3B41"/>
                </a:solidFill>
                <a:latin typeface="Calibri"/>
              </a:rPr>
              <a:t>, em que 1 ≤ t ≤ 100.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2E3B41"/>
                </a:solidFill>
                <a:latin typeface="Calibri"/>
              </a:rPr>
              <a:t>Sabe-se que o sistema acende as luzes de emergência assim que a intensidade da luz no ambiente fica menor que 13%.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2E3B41"/>
                </a:solidFill>
                <a:latin typeface="Calibri"/>
              </a:rPr>
              <a:t>A partir de quantos minutos completos sem movimento na sala é certo que as luzes de emergência são acionadas?</a:t>
            </a:r>
          </a:p>
        </p:txBody>
      </p:sp>
      <p:grpSp>
        <p:nvGrpSpPr>
          <p:cNvPr id="20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1" name="Rectangle 20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20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8640" y="1005840"/>
              <a:ext cx="6417259" cy="72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5800" y="1033272"/>
              <a:ext cx="6142939" cy="66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Qual é o primeiro minuto inteiro em que L(t) fica abaixo de 13%?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1908720"/>
              <a:ext cx="6417259" cy="38062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" y="1908720"/>
              <a:ext cx="6417259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5800" y="2384208"/>
              <a:ext cx="6142939" cy="328507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L(t) = 100 · (0,5)</a:t>
              </a:r>
              <a:r>
                <a:rPr sz="2400" b="0" baseline="30000">
                  <a:solidFill>
                    <a:srgbClr val="2E3B41"/>
                  </a:solidFill>
                  <a:latin typeface="Calibri"/>
                </a:rPr>
                <a:t>t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: a luz cai pela metade a cada minuto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L(1) = 50%  ·  L(2) = 25%  ·  L(3) = 12,5%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12,5% &lt; 13%  ⇒  a partir de </a:t>
              </a:r>
              <a:r>
                <a:rPr sz="2400" b="1">
                  <a:solidFill>
                    <a:srgbClr val="2E3B41"/>
                  </a:solidFill>
                  <a:latin typeface="Calibri"/>
                </a:rPr>
                <a:t>3 minutos</a:t>
              </a:r>
            </a:p>
          </p:txBody>
        </p:sp>
        <p:sp>
          <p:nvSpPr>
            <p:cNvPr id="28" name="Resposta"/>
            <p:cNvSpPr/>
            <p:nvPr/>
          </p:nvSpPr>
          <p:spPr>
            <a:xfrm>
              <a:off x="7240219" y="1005840"/>
              <a:ext cx="4372661" cy="337628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77379" y="1060704"/>
              <a:ext cx="4098341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7379" y="1345840"/>
              <a:ext cx="4098341" cy="29762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5400" b="1">
                  <a:solidFill>
                    <a:srgbClr val="FFFFFF"/>
                  </a:solidFill>
                  <a:latin typeface="Calibri"/>
                </a:rPr>
                <a:t>c)  3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40219" y="4565000"/>
              <a:ext cx="4372661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77379" y="4610720"/>
              <a:ext cx="4098341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Confundir o limite de 13% com o tempo (alternativa e).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522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83 · Equação exponencial</a:t>
            </a:r>
          </a:p>
        </p:txBody>
      </p:sp>
      <p:sp>
        <p:nvSpPr>
          <p:cNvPr id="3" name="Alt a"/>
          <p:cNvSpPr/>
          <p:nvPr/>
        </p:nvSpPr>
        <p:spPr>
          <a:xfrm>
            <a:off x="54864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0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2 horas</a:t>
            </a:r>
          </a:p>
        </p:txBody>
      </p:sp>
      <p:sp>
        <p:nvSpPr>
          <p:cNvPr id="6" name="Alt b"/>
          <p:cNvSpPr/>
          <p:nvPr/>
        </p:nvSpPr>
        <p:spPr>
          <a:xfrm>
            <a:off x="278892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8036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08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3 horas</a:t>
            </a:r>
          </a:p>
        </p:txBody>
      </p:sp>
      <p:sp>
        <p:nvSpPr>
          <p:cNvPr id="9" name="Alt c"/>
          <p:cNvSpPr/>
          <p:nvPr/>
        </p:nvSpPr>
        <p:spPr>
          <a:xfrm>
            <a:off x="502920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636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4 horas</a:t>
            </a:r>
          </a:p>
        </p:txBody>
      </p:sp>
      <p:sp>
        <p:nvSpPr>
          <p:cNvPr id="12" name="Alt d"/>
          <p:cNvSpPr/>
          <p:nvPr/>
        </p:nvSpPr>
        <p:spPr>
          <a:xfrm>
            <a:off x="726948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6092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664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8 horas</a:t>
            </a:r>
          </a:p>
        </p:txBody>
      </p:sp>
      <p:sp>
        <p:nvSpPr>
          <p:cNvPr id="15" name="Alt e"/>
          <p:cNvSpPr/>
          <p:nvPr/>
        </p:nvSpPr>
        <p:spPr>
          <a:xfrm>
            <a:off x="950976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692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9 horas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005840"/>
            <a:ext cx="11064240" cy="396056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nunciado"/>
          <p:cNvSpPr txBox="1"/>
          <p:nvPr/>
        </p:nvSpPr>
        <p:spPr>
          <a:xfrm>
            <a:off x="731520" y="1143000"/>
            <a:ext cx="10698480" cy="3731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E3B41"/>
                </a:solidFill>
                <a:latin typeface="Calibri"/>
              </a:rPr>
              <a:t>Em um experimento químico, o cálculo do tempo t, medido em hora, que uma substância ativa ficou presente em uma solução foi modelado pela seguinte equação exponencial:</a:t>
            </a:r>
          </a:p>
          <a:p>
            <a:pPr algn="ctr">
              <a:spcAft>
                <a:spcPts val="600"/>
              </a:spcAft>
            </a:pPr>
            <a:r>
              <a:rPr sz="2800" b="1">
                <a:solidFill>
                  <a:srgbClr val="2E3B41"/>
                </a:solidFill>
                <a:latin typeface="Calibri"/>
              </a:rPr>
              <a:t>3</a:t>
            </a:r>
            <a:r>
              <a:rPr sz="2800" b="1" baseline="30000">
                <a:solidFill>
                  <a:srgbClr val="2E3B41"/>
                </a:solidFill>
                <a:latin typeface="Calibri"/>
              </a:rPr>
              <a:t>t + 1</a:t>
            </a:r>
            <a:r>
              <a:rPr sz="2800" b="1">
                <a:solidFill>
                  <a:srgbClr val="2E3B41"/>
                </a:solidFill>
                <a:latin typeface="Calibri"/>
              </a:rPr>
              <a:t> − 3</a:t>
            </a:r>
            <a:r>
              <a:rPr sz="2800" b="1" baseline="30000">
                <a:solidFill>
                  <a:srgbClr val="2E3B41"/>
                </a:solidFill>
                <a:latin typeface="Calibri"/>
              </a:rPr>
              <a:t>t − 1</a:t>
            </a:r>
            <a:r>
              <a:rPr sz="2800" b="1">
                <a:solidFill>
                  <a:srgbClr val="2E3B41"/>
                </a:solidFill>
                <a:latin typeface="Calibri"/>
              </a:rPr>
              <a:t> = 216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2E3B41"/>
                </a:solidFill>
                <a:latin typeface="Calibri"/>
              </a:rPr>
              <a:t>Sabendo que esse modelo representa corretamente o comportamento da substância, quanto tempo ela permaneceu ativa nesse experimento?</a:t>
            </a:r>
          </a:p>
        </p:txBody>
      </p:sp>
      <p:grpSp>
        <p:nvGrpSpPr>
          <p:cNvPr id="20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1" name="Rectangle 20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90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8640" y="1005840"/>
              <a:ext cx="6417259" cy="72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5800" y="1033272"/>
              <a:ext cx="6142939" cy="66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Como escrever 3</a:t>
              </a:r>
              <a:r>
                <a:rPr sz="1700" b="0" baseline="30000">
                  <a:solidFill>
                    <a:srgbClr val="2E3B41"/>
                  </a:solidFill>
                  <a:latin typeface="Calibri"/>
                </a:rPr>
                <a:t>t+1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e 3</a:t>
              </a:r>
              <a:r>
                <a:rPr sz="1700" b="0" baseline="30000">
                  <a:solidFill>
                    <a:srgbClr val="2E3B41"/>
                  </a:solidFill>
                  <a:latin typeface="Calibri"/>
                </a:rPr>
                <a:t>t−1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usando 3</a:t>
              </a:r>
              <a:r>
                <a:rPr sz="1700" b="0" baseline="30000">
                  <a:solidFill>
                    <a:srgbClr val="2E3B41"/>
                  </a:solidFill>
                  <a:latin typeface="Calibri"/>
                </a:rPr>
                <a:t>t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?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1908720"/>
              <a:ext cx="6417259" cy="38062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" y="1908720"/>
              <a:ext cx="6417259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5800" y="2384208"/>
              <a:ext cx="6142939" cy="328507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3</a:t>
              </a:r>
              <a:r>
                <a:rPr sz="2400" b="0" baseline="30000">
                  <a:solidFill>
                    <a:srgbClr val="2E3B41"/>
                  </a:solidFill>
                  <a:latin typeface="Calibri"/>
                </a:rPr>
                <a:t>t+1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= 3 · 3</a:t>
              </a:r>
              <a:r>
                <a:rPr sz="2400" b="0" baseline="30000">
                  <a:solidFill>
                    <a:srgbClr val="2E3B41"/>
                  </a:solidFill>
                  <a:latin typeface="Calibri"/>
                </a:rPr>
                <a:t>t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 e  3</a:t>
              </a:r>
              <a:r>
                <a:rPr sz="2400" b="0" baseline="30000">
                  <a:solidFill>
                    <a:srgbClr val="2E3B41"/>
                  </a:solidFill>
                  <a:latin typeface="Calibri"/>
                </a:rPr>
                <a:t>t−1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= 3</a:t>
              </a:r>
              <a:r>
                <a:rPr sz="2400" b="0" baseline="30000">
                  <a:solidFill>
                    <a:srgbClr val="2E3B41"/>
                  </a:solidFill>
                  <a:latin typeface="Calibri"/>
                </a:rPr>
                <a:t>t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÷ 3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3</a:t>
              </a:r>
              <a:r>
                <a:rPr sz="2400" b="0" baseline="30000">
                  <a:solidFill>
                    <a:srgbClr val="2E3B41"/>
                  </a:solidFill>
                  <a:latin typeface="Calibri"/>
                </a:rPr>
                <a:t>t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· (3 − 1/3) = 216  ⇒  3</a:t>
              </a:r>
              <a:r>
                <a:rPr sz="2400" b="0" baseline="30000">
                  <a:solidFill>
                    <a:srgbClr val="2E3B41"/>
                  </a:solidFill>
                  <a:latin typeface="Calibri"/>
                </a:rPr>
                <a:t>t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· 8/3 = 216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3</a:t>
              </a:r>
              <a:r>
                <a:rPr sz="2400" b="0" baseline="30000">
                  <a:solidFill>
                    <a:srgbClr val="2E3B41"/>
                  </a:solidFill>
                  <a:latin typeface="Calibri"/>
                </a:rPr>
                <a:t>t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= 81 = 3</a:t>
              </a:r>
              <a:r>
                <a:rPr sz="2400" b="0" baseline="30000">
                  <a:solidFill>
                    <a:srgbClr val="2E3B41"/>
                  </a:solidFill>
                  <a:latin typeface="Calibri"/>
                </a:rPr>
                <a:t>4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 ⇒  </a:t>
              </a:r>
              <a:r>
                <a:rPr sz="2400" b="1">
                  <a:solidFill>
                    <a:srgbClr val="2E3B41"/>
                  </a:solidFill>
                  <a:latin typeface="Calibri"/>
                </a:rPr>
                <a:t>t = 4</a:t>
              </a:r>
            </a:p>
          </p:txBody>
        </p:sp>
        <p:sp>
          <p:nvSpPr>
            <p:cNvPr id="28" name="Resposta"/>
            <p:cNvSpPr/>
            <p:nvPr/>
          </p:nvSpPr>
          <p:spPr>
            <a:xfrm>
              <a:off x="7240219" y="1005840"/>
              <a:ext cx="4372661" cy="337628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77379" y="1060704"/>
              <a:ext cx="4098341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7379" y="1345840"/>
              <a:ext cx="4098341" cy="29762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4000" b="1">
                  <a:solidFill>
                    <a:srgbClr val="FFFFFF"/>
                  </a:solidFill>
                  <a:latin typeface="Calibri"/>
                </a:rPr>
                <a:t>c)  4 horas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40219" y="4565000"/>
              <a:ext cx="4372661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77379" y="4610720"/>
              <a:ext cx="4098341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Subtrair os expoentes: (t + 1) − (t − 1) = 2.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597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88 · Exponencial pelo gráfico</a:t>
            </a:r>
          </a:p>
        </p:txBody>
      </p:sp>
      <p:sp>
        <p:nvSpPr>
          <p:cNvPr id="3" name="Alt a"/>
          <p:cNvSpPr/>
          <p:nvPr/>
        </p:nvSpPr>
        <p:spPr>
          <a:xfrm>
            <a:off x="54864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0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600.</a:t>
            </a:r>
          </a:p>
        </p:txBody>
      </p:sp>
      <p:sp>
        <p:nvSpPr>
          <p:cNvPr id="6" name="Alt b"/>
          <p:cNvSpPr/>
          <p:nvPr/>
        </p:nvSpPr>
        <p:spPr>
          <a:xfrm>
            <a:off x="278892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8036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08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800.</a:t>
            </a:r>
          </a:p>
        </p:txBody>
      </p:sp>
      <p:sp>
        <p:nvSpPr>
          <p:cNvPr id="9" name="Alt c"/>
          <p:cNvSpPr/>
          <p:nvPr/>
        </p:nvSpPr>
        <p:spPr>
          <a:xfrm>
            <a:off x="502920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636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1 000.</a:t>
            </a:r>
          </a:p>
        </p:txBody>
      </p:sp>
      <p:sp>
        <p:nvSpPr>
          <p:cNvPr id="12" name="Alt d"/>
          <p:cNvSpPr/>
          <p:nvPr/>
        </p:nvSpPr>
        <p:spPr>
          <a:xfrm>
            <a:off x="726948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6092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664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1 600.</a:t>
            </a:r>
          </a:p>
        </p:txBody>
      </p:sp>
      <p:sp>
        <p:nvSpPr>
          <p:cNvPr id="15" name="Alt e"/>
          <p:cNvSpPr/>
          <p:nvPr/>
        </p:nvSpPr>
        <p:spPr>
          <a:xfrm>
            <a:off x="950976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692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3 200.</a:t>
            </a:r>
          </a:p>
        </p:txBody>
      </p:sp>
      <p:sp>
        <p:nvSpPr>
          <p:cNvPr id="18" name="Enunciado"/>
          <p:cNvSpPr txBox="1"/>
          <p:nvPr/>
        </p:nvSpPr>
        <p:spPr>
          <a:xfrm>
            <a:off x="548640" y="1005840"/>
            <a:ext cx="6195974" cy="4006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E3B41"/>
                </a:solidFill>
                <a:latin typeface="Calibri"/>
              </a:rPr>
              <a:t>Em um experimento de laboratório, a quantidade de bactérias em uma cultura (em milhares) foi modelada em função do tempo (em hora) de acordo com uma função exponencial, como apresentado no gráfico.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2E3B41"/>
                </a:solidFill>
                <a:latin typeface="Calibri"/>
              </a:rPr>
              <a:t>O biólogo responsável realizou três medições, indicadas pelos pontos A, B e C, e verificou que havia um padrão.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2E3B41"/>
                </a:solidFill>
                <a:latin typeface="Calibri"/>
              </a:rPr>
              <a:t>Sabe-se que a próxima verificação será realizada 5 horas após o início do experimento.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2E3B41"/>
                </a:solidFill>
                <a:latin typeface="Calibri"/>
              </a:rPr>
              <a:t>A quantidade de bactérias, em milhares, na quarta medição será igual a</a:t>
            </a:r>
          </a:p>
        </p:txBody>
      </p:sp>
      <p:pic>
        <p:nvPicPr>
          <p:cNvPr id="19" name="Picture 18" descr="q88_graf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370" y="1005840"/>
            <a:ext cx="3889353" cy="4006280"/>
          </a:xfrm>
          <a:prstGeom prst="rect">
            <a:avLst/>
          </a:prstGeom>
        </p:spPr>
      </p:pic>
      <p:grpSp>
        <p:nvGrpSpPr>
          <p:cNvPr id="20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1" name="Rectangle 20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65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8640" y="1005840"/>
              <a:ext cx="6417259" cy="72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5800" y="1033272"/>
              <a:ext cx="6142939" cy="66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Pelo gráfico, o que acontece com a quantidade a cada hora?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1908720"/>
              <a:ext cx="6417259" cy="38062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" y="1908720"/>
              <a:ext cx="6417259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5800" y="2384208"/>
              <a:ext cx="6142939" cy="328507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A(0, 100)  ⇒  a = 100;  B(1, 200)  ⇒  b = 2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Q(t) = 100 · 2</a:t>
              </a:r>
              <a:r>
                <a:rPr sz="2400" b="0" baseline="30000">
                  <a:solidFill>
                    <a:srgbClr val="2E3B41"/>
                  </a:solidFill>
                  <a:latin typeface="Calibri"/>
                </a:rPr>
                <a:t>t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 (confere: Q(2) = 400 ✓)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4ª medição em t = 5 h: Q(5) = 100 · 2</a:t>
              </a:r>
              <a:r>
                <a:rPr sz="2400" b="0" baseline="30000">
                  <a:solidFill>
                    <a:srgbClr val="2E3B41"/>
                  </a:solidFill>
                  <a:latin typeface="Calibri"/>
                </a:rPr>
                <a:t>5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= </a:t>
              </a:r>
              <a:r>
                <a:rPr sz="2400" b="1">
                  <a:solidFill>
                    <a:srgbClr val="2E3B41"/>
                  </a:solidFill>
                  <a:latin typeface="Calibri"/>
                </a:rPr>
                <a:t>3 200</a:t>
              </a:r>
            </a:p>
          </p:txBody>
        </p:sp>
        <p:sp>
          <p:nvSpPr>
            <p:cNvPr id="28" name="Resposta"/>
            <p:cNvSpPr/>
            <p:nvPr/>
          </p:nvSpPr>
          <p:spPr>
            <a:xfrm>
              <a:off x="7240219" y="1005840"/>
              <a:ext cx="4372661" cy="337628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77379" y="1060704"/>
              <a:ext cx="4098341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7379" y="1345840"/>
              <a:ext cx="4098341" cy="29762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4000" b="1">
                  <a:solidFill>
                    <a:srgbClr val="FFFFFF"/>
                  </a:solidFill>
                  <a:latin typeface="Calibri"/>
                </a:rPr>
                <a:t>e)  3 200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40219" y="4565000"/>
              <a:ext cx="4372661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77379" y="4610720"/>
              <a:ext cx="4098341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Calcular Q(4) = 1 600: a 4ª medição é em t = 5 h.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552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90 · Inequação exponencial</a:t>
            </a:r>
          </a:p>
        </p:txBody>
      </p:sp>
      <p:sp>
        <p:nvSpPr>
          <p:cNvPr id="3" name="Alt a"/>
          <p:cNvSpPr/>
          <p:nvPr/>
        </p:nvSpPr>
        <p:spPr>
          <a:xfrm>
            <a:off x="54864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0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0,9</a:t>
            </a:r>
          </a:p>
        </p:txBody>
      </p:sp>
      <p:sp>
        <p:nvSpPr>
          <p:cNvPr id="6" name="Alt b"/>
          <p:cNvSpPr/>
          <p:nvPr/>
        </p:nvSpPr>
        <p:spPr>
          <a:xfrm>
            <a:off x="278892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8036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08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1,1</a:t>
            </a:r>
          </a:p>
        </p:txBody>
      </p:sp>
      <p:sp>
        <p:nvSpPr>
          <p:cNvPr id="9" name="Alt c"/>
          <p:cNvSpPr/>
          <p:nvPr/>
        </p:nvSpPr>
        <p:spPr>
          <a:xfrm>
            <a:off x="502920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636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2,0</a:t>
            </a:r>
          </a:p>
        </p:txBody>
      </p:sp>
      <p:sp>
        <p:nvSpPr>
          <p:cNvPr id="12" name="Alt d"/>
          <p:cNvSpPr/>
          <p:nvPr/>
        </p:nvSpPr>
        <p:spPr>
          <a:xfrm>
            <a:off x="726948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6092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664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8,1</a:t>
            </a:r>
          </a:p>
        </p:txBody>
      </p:sp>
      <p:sp>
        <p:nvSpPr>
          <p:cNvPr id="15" name="Alt e"/>
          <p:cNvSpPr/>
          <p:nvPr/>
        </p:nvSpPr>
        <p:spPr>
          <a:xfrm>
            <a:off x="950976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692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9,0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005840"/>
            <a:ext cx="11064240" cy="396056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nunciado"/>
          <p:cNvSpPr txBox="1"/>
          <p:nvPr/>
        </p:nvSpPr>
        <p:spPr>
          <a:xfrm>
            <a:off x="731520" y="1143000"/>
            <a:ext cx="10698480" cy="3731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2E3B41"/>
                </a:solidFill>
                <a:latin typeface="Calibri"/>
              </a:rPr>
              <a:t>A intensidade do wi-fi emitido por um modem, em um estabelecimento, foi modelada de acordo com a seguinte função exponencial:</a:t>
            </a:r>
          </a:p>
          <a:p>
            <a:pPr algn="ctr">
              <a:spcAft>
                <a:spcPts val="600"/>
              </a:spcAft>
            </a:pPr>
            <a:r>
              <a:rPr sz="2500" b="1">
                <a:solidFill>
                  <a:srgbClr val="2E3B41"/>
                </a:solidFill>
                <a:latin typeface="Calibri"/>
              </a:rPr>
              <a:t>I(d) = 100 · 0,9</a:t>
            </a:r>
            <a:r>
              <a:rPr sz="2500" b="1" baseline="30000">
                <a:solidFill>
                  <a:srgbClr val="2E3B41"/>
                </a:solidFill>
                <a:latin typeface="Calibri"/>
              </a:rPr>
              <a:t>d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2E3B41"/>
                </a:solidFill>
                <a:latin typeface="Calibri"/>
              </a:rPr>
              <a:t>Nela, I(d) representa a intensidade do sinal de wi-fi, em porcentagem, com 1 ≤ I(d) ≤ 100; e d é a distância, em metro, entre o modem e o aparelho receptor.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2E3B41"/>
                </a:solidFill>
                <a:latin typeface="Calibri"/>
              </a:rPr>
              <a:t>Um aplicativo de um instrumento principal da empresa deve ser mantido com intensidade de, no mínimo, 81% para garantir um bom funcionamento.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2E3B41"/>
                </a:solidFill>
                <a:latin typeface="Calibri"/>
              </a:rPr>
              <a:t>Qual é a distância máxima, em metro, que esse aparelho deve ficar do modem?</a:t>
            </a:r>
          </a:p>
        </p:txBody>
      </p:sp>
      <p:grpSp>
        <p:nvGrpSpPr>
          <p:cNvPr id="20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1" name="Rectangle 20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20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8640" y="1005840"/>
              <a:ext cx="6417259" cy="72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5800" y="1033272"/>
              <a:ext cx="6142939" cy="66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Escreva 0,81 como potência de 0,9. O que acontece com a desigualdade?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1908720"/>
              <a:ext cx="6417259" cy="38062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" y="1908720"/>
              <a:ext cx="6417259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5800" y="2384208"/>
              <a:ext cx="6142939" cy="328507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100 · 0,9</a:t>
              </a:r>
              <a:r>
                <a:rPr sz="2400" b="0" baseline="30000">
                  <a:solidFill>
                    <a:srgbClr val="2E3B41"/>
                  </a:solidFill>
                  <a:latin typeface="Calibri"/>
                </a:rPr>
                <a:t>d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≥ 81  ⇒  0,9</a:t>
              </a:r>
              <a:r>
                <a:rPr sz="2400" b="0" baseline="30000">
                  <a:solidFill>
                    <a:srgbClr val="2E3B41"/>
                  </a:solidFill>
                  <a:latin typeface="Calibri"/>
                </a:rPr>
                <a:t>d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≥ 0,81 = 0,9</a:t>
              </a:r>
              <a:r>
                <a:rPr sz="2400" b="0" baseline="30000">
                  <a:solidFill>
                    <a:srgbClr val="2E3B41"/>
                  </a:solidFill>
                  <a:latin typeface="Calibri"/>
                </a:rPr>
                <a:t>2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Base entre 0 e 1: a função é decrescente, então a desigualdade se inverte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d ≤ 2  ⇒  distância máxima de </a:t>
              </a:r>
              <a:r>
                <a:rPr sz="2400" b="1">
                  <a:solidFill>
                    <a:srgbClr val="2E3B41"/>
                  </a:solidFill>
                  <a:latin typeface="Calibri"/>
                </a:rPr>
                <a:t>2 m</a:t>
              </a:r>
            </a:p>
          </p:txBody>
        </p:sp>
        <p:sp>
          <p:nvSpPr>
            <p:cNvPr id="28" name="Resposta"/>
            <p:cNvSpPr/>
            <p:nvPr/>
          </p:nvSpPr>
          <p:spPr>
            <a:xfrm>
              <a:off x="7240219" y="1005840"/>
              <a:ext cx="4372661" cy="337628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77379" y="1060704"/>
              <a:ext cx="4098341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7379" y="1345840"/>
              <a:ext cx="4098341" cy="29762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5400" b="1">
                  <a:solidFill>
                    <a:srgbClr val="FFFFFF"/>
                  </a:solidFill>
                  <a:latin typeface="Calibri"/>
                </a:rPr>
                <a:t>c)  2,0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40219" y="4565000"/>
              <a:ext cx="4372661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77379" y="4610720"/>
              <a:ext cx="4098341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Não inverter o sinal e concluir que d ≥ 2.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188720"/>
            <a:ext cx="2100000" cy="411480"/>
          </a:xfrm>
          <a:prstGeom prst="roundRect">
            <a:avLst>
              <a:gd name="adj" fmla="val 50000"/>
            </a:avLst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9598"/>
                </a:solidFill>
                <a:latin typeface="Calibri"/>
              </a:rPr>
              <a:t>BLOCO 2 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0000"/>
            <a:ext cx="6400000" cy="140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2E3B41"/>
                </a:solidFill>
                <a:latin typeface="Calibri"/>
              </a:rPr>
              <a:t>Sequências e P.A.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000000"/>
            <a:ext cx="6000000" cy="100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6B70"/>
                </a:solidFill>
                <a:latin typeface="Calibri"/>
              </a:rPr>
              <a:t>Termo geral: a</a:t>
            </a:r>
            <a:r>
              <a:rPr sz="2000" b="0" baseline="-25000">
                <a:solidFill>
                  <a:srgbClr val="5F6B70"/>
                </a:solidFill>
                <a:latin typeface="Calibri"/>
              </a:rPr>
              <a:t>n</a:t>
            </a:r>
            <a:r>
              <a:rPr sz="2000" b="0">
                <a:solidFill>
                  <a:srgbClr val="5F6B70"/>
                </a:solidFill>
                <a:latin typeface="Calibri"/>
              </a:rPr>
              <a:t> = a</a:t>
            </a:r>
            <a:r>
              <a:rPr sz="2000" b="0" baseline="-25000">
                <a:solidFill>
                  <a:srgbClr val="5F6B70"/>
                </a:solidFill>
                <a:latin typeface="Calibri"/>
              </a:rPr>
              <a:t>1</a:t>
            </a:r>
            <a:r>
              <a:rPr sz="2000" b="0">
                <a:solidFill>
                  <a:srgbClr val="5F6B70"/>
                </a:solidFill>
                <a:latin typeface="Calibri"/>
              </a:rPr>
              <a:t> + (n − 1) · r · olhar as diferenças entre os termos.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188720"/>
            <a:ext cx="4023360" cy="224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0" y="1188720"/>
            <a:ext cx="4023360" cy="384048"/>
          </a:xfrm>
          <a:prstGeom prst="rect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Questões deste bloco</a:t>
            </a:r>
          </a:p>
        </p:txBody>
      </p:sp>
      <p:sp>
        <p:nvSpPr>
          <p:cNvPr id="7" name="Oval 6"/>
          <p:cNvSpPr/>
          <p:nvPr/>
        </p:nvSpPr>
        <p:spPr>
          <a:xfrm>
            <a:off x="7818120" y="173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9520" y="170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Progressão aritmética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29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9520" y="226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Lei de formação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5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9520" y="282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P.A. (aplicação)</a:t>
            </a:r>
          </a:p>
        </p:txBody>
      </p:sp>
      <p:sp>
        <p:nvSpPr>
          <p:cNvPr id="13" name="Voltar ao roteiro">
            <a:hlinkClick action="ppaction://hlinksldjump" r:id="rId2"/>
          </p:cNvPr>
          <p:cNvSpPr/>
          <p:nvPr/>
        </p:nvSpPr>
        <p:spPr>
          <a:xfrm>
            <a:off x="685800" y="4850000"/>
            <a:ext cx="1900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9598"/>
                </a:solidFill>
                <a:latin typeface="Calibri"/>
              </a:rPr>
              <a:t>↩ Roteiro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552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75 · Progressão aritmética</a:t>
            </a:r>
          </a:p>
        </p:txBody>
      </p:sp>
      <p:sp>
        <p:nvSpPr>
          <p:cNvPr id="3" name="Alt a"/>
          <p:cNvSpPr/>
          <p:nvPr/>
        </p:nvSpPr>
        <p:spPr>
          <a:xfrm>
            <a:off x="54864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0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15º</a:t>
            </a:r>
          </a:p>
        </p:txBody>
      </p:sp>
      <p:sp>
        <p:nvSpPr>
          <p:cNvPr id="6" name="Alt b"/>
          <p:cNvSpPr/>
          <p:nvPr/>
        </p:nvSpPr>
        <p:spPr>
          <a:xfrm>
            <a:off x="278892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8036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08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16º</a:t>
            </a:r>
          </a:p>
        </p:txBody>
      </p:sp>
      <p:sp>
        <p:nvSpPr>
          <p:cNvPr id="9" name="Alt c"/>
          <p:cNvSpPr/>
          <p:nvPr/>
        </p:nvSpPr>
        <p:spPr>
          <a:xfrm>
            <a:off x="502920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636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17º</a:t>
            </a:r>
          </a:p>
        </p:txBody>
      </p:sp>
      <p:sp>
        <p:nvSpPr>
          <p:cNvPr id="12" name="Alt d"/>
          <p:cNvSpPr/>
          <p:nvPr/>
        </p:nvSpPr>
        <p:spPr>
          <a:xfrm>
            <a:off x="726948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6092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664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18º</a:t>
            </a:r>
          </a:p>
        </p:txBody>
      </p:sp>
      <p:sp>
        <p:nvSpPr>
          <p:cNvPr id="15" name="Alt e"/>
          <p:cNvSpPr/>
          <p:nvPr/>
        </p:nvSpPr>
        <p:spPr>
          <a:xfrm>
            <a:off x="950976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692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19º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005840"/>
            <a:ext cx="11064240" cy="396056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nunciado"/>
          <p:cNvSpPr txBox="1"/>
          <p:nvPr/>
        </p:nvSpPr>
        <p:spPr>
          <a:xfrm>
            <a:off x="731520" y="1143000"/>
            <a:ext cx="10698480" cy="3731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E3B41"/>
                </a:solidFill>
                <a:latin typeface="Calibri"/>
              </a:rPr>
              <a:t>Uma empresa organiza a substituição periódica de lâmpadas em um galpão industrial. No primeiro mês, são trocadas 18 lâmpadas e, a cada mês, esse número aumenta de forma constante, devido à ampliação do depósito.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2E3B41"/>
                </a:solidFill>
                <a:latin typeface="Calibri"/>
              </a:rPr>
              <a:t>Sabe-se que, durante o 9º mês, foram trocadas 90 lâmpadas.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2E3B41"/>
                </a:solidFill>
                <a:latin typeface="Calibri"/>
              </a:rPr>
              <a:t>Mantendo-se esse padrão, em qual mês, contado a partir do início, o número de lâmpadas trocadas será igual a 162?</a:t>
            </a:r>
          </a:p>
        </p:txBody>
      </p:sp>
      <p:grpSp>
        <p:nvGrpSpPr>
          <p:cNvPr id="20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1" name="Rectangle 20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20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8640" y="1005840"/>
              <a:ext cx="6417259" cy="72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5800" y="1033272"/>
              <a:ext cx="6142939" cy="66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Qual é a razão dessa P.A.? Como descobrir?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1908720"/>
              <a:ext cx="6417259" cy="38062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" y="1908720"/>
              <a:ext cx="6417259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5800" y="2384208"/>
              <a:ext cx="6142939" cy="328507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a</a:t>
              </a:r>
              <a:r>
                <a:rPr sz="2400" b="0" baseline="-25000">
                  <a:solidFill>
                    <a:srgbClr val="2E3B41"/>
                  </a:solidFill>
                  <a:latin typeface="Calibri"/>
                </a:rPr>
                <a:t>1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= 18 e a</a:t>
              </a:r>
              <a:r>
                <a:rPr sz="2400" b="0" baseline="-25000">
                  <a:solidFill>
                    <a:srgbClr val="2E3B41"/>
                  </a:solidFill>
                  <a:latin typeface="Calibri"/>
                </a:rPr>
                <a:t>9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= 90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a</a:t>
              </a:r>
              <a:r>
                <a:rPr sz="2400" b="0" baseline="-25000">
                  <a:solidFill>
                    <a:srgbClr val="2E3B41"/>
                  </a:solidFill>
                  <a:latin typeface="Calibri"/>
                </a:rPr>
                <a:t>9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= a</a:t>
              </a:r>
              <a:r>
                <a:rPr sz="2400" b="0" baseline="-25000">
                  <a:solidFill>
                    <a:srgbClr val="2E3B41"/>
                  </a:solidFill>
                  <a:latin typeface="Calibri"/>
                </a:rPr>
                <a:t>1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+ 8r  ⇒  90 = 18 + 8r  ⇒  r = 9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162 = 18 + (n − 1) · 9  ⇒  n − 1 = 16  ⇒  </a:t>
              </a:r>
              <a:r>
                <a:rPr sz="2400" b="1">
                  <a:solidFill>
                    <a:srgbClr val="2E3B41"/>
                  </a:solidFill>
                  <a:latin typeface="Calibri"/>
                </a:rPr>
                <a:t>n = 17</a:t>
              </a:r>
            </a:p>
          </p:txBody>
        </p:sp>
        <p:sp>
          <p:nvSpPr>
            <p:cNvPr id="28" name="Resposta"/>
            <p:cNvSpPr/>
            <p:nvPr/>
          </p:nvSpPr>
          <p:spPr>
            <a:xfrm>
              <a:off x="7240219" y="1005840"/>
              <a:ext cx="4372661" cy="337628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77379" y="1060704"/>
              <a:ext cx="4098341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7379" y="1345840"/>
              <a:ext cx="4098341" cy="29762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5400" b="1">
                  <a:solidFill>
                    <a:srgbClr val="FFFFFF"/>
                  </a:solidFill>
                  <a:latin typeface="Calibri"/>
                </a:rPr>
                <a:t>c)  17º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40219" y="4565000"/>
              <a:ext cx="4372661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77379" y="4610720"/>
              <a:ext cx="4098341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Errar o (n − 1) do termo geral e chegar ao 18º mês.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462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79 · Lei de formação</a:t>
            </a:r>
          </a:p>
        </p:txBody>
      </p:sp>
      <p:sp>
        <p:nvSpPr>
          <p:cNvPr id="3" name="Alt a"/>
          <p:cNvSpPr/>
          <p:nvPr/>
        </p:nvSpPr>
        <p:spPr>
          <a:xfrm>
            <a:off x="54864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0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E3B41"/>
                </a:solidFill>
                <a:latin typeface="Calibri"/>
              </a:rPr>
              <a:t>a</a:t>
            </a:r>
            <a:r>
              <a:rPr sz="1500" b="0" baseline="-25000">
                <a:solidFill>
                  <a:srgbClr val="2E3B41"/>
                </a:solidFill>
                <a:latin typeface="Calibri"/>
              </a:rPr>
              <a:t>n</a:t>
            </a:r>
            <a:r>
              <a:rPr sz="1500" b="0">
                <a:solidFill>
                  <a:srgbClr val="2E3B41"/>
                </a:solidFill>
                <a:latin typeface="Calibri"/>
              </a:rPr>
              <a:t> = n²</a:t>
            </a:r>
          </a:p>
        </p:txBody>
      </p:sp>
      <p:sp>
        <p:nvSpPr>
          <p:cNvPr id="6" name="Alt b"/>
          <p:cNvSpPr/>
          <p:nvPr/>
        </p:nvSpPr>
        <p:spPr>
          <a:xfrm>
            <a:off x="278892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8036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08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E3B41"/>
                </a:solidFill>
                <a:latin typeface="Calibri"/>
              </a:rPr>
              <a:t>a</a:t>
            </a:r>
            <a:r>
              <a:rPr sz="1500" b="0" baseline="-25000">
                <a:solidFill>
                  <a:srgbClr val="2E3B41"/>
                </a:solidFill>
                <a:latin typeface="Calibri"/>
              </a:rPr>
              <a:t>n</a:t>
            </a:r>
            <a:r>
              <a:rPr sz="1500" b="0">
                <a:solidFill>
                  <a:srgbClr val="2E3B41"/>
                </a:solidFill>
                <a:latin typeface="Calibri"/>
              </a:rPr>
              <a:t> = n² + 4</a:t>
            </a:r>
          </a:p>
        </p:txBody>
      </p:sp>
      <p:sp>
        <p:nvSpPr>
          <p:cNvPr id="9" name="Alt c"/>
          <p:cNvSpPr/>
          <p:nvPr/>
        </p:nvSpPr>
        <p:spPr>
          <a:xfrm>
            <a:off x="502920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636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E3B41"/>
                </a:solidFill>
                <a:latin typeface="Calibri"/>
              </a:rPr>
              <a:t>a</a:t>
            </a:r>
            <a:r>
              <a:rPr sz="1500" b="0" baseline="-25000">
                <a:solidFill>
                  <a:srgbClr val="2E3B41"/>
                </a:solidFill>
                <a:latin typeface="Calibri"/>
              </a:rPr>
              <a:t>n</a:t>
            </a:r>
            <a:r>
              <a:rPr sz="1500" b="0">
                <a:solidFill>
                  <a:srgbClr val="2E3B41"/>
                </a:solidFill>
                <a:latin typeface="Calibri"/>
              </a:rPr>
              <a:t> = n² + 5n + 10</a:t>
            </a:r>
          </a:p>
        </p:txBody>
      </p:sp>
      <p:sp>
        <p:nvSpPr>
          <p:cNvPr id="12" name="Alt d"/>
          <p:cNvSpPr/>
          <p:nvPr/>
        </p:nvSpPr>
        <p:spPr>
          <a:xfrm>
            <a:off x="726948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6092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664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E3B41"/>
                </a:solidFill>
                <a:latin typeface="Calibri"/>
              </a:rPr>
              <a:t>a</a:t>
            </a:r>
            <a:r>
              <a:rPr sz="1500" b="0" baseline="-25000">
                <a:solidFill>
                  <a:srgbClr val="2E3B41"/>
                </a:solidFill>
                <a:latin typeface="Calibri"/>
              </a:rPr>
              <a:t>n</a:t>
            </a:r>
            <a:r>
              <a:rPr sz="1500" b="0">
                <a:solidFill>
                  <a:srgbClr val="2E3B41"/>
                </a:solidFill>
                <a:latin typeface="Calibri"/>
              </a:rPr>
              <a:t> = n² + n + 2</a:t>
            </a:r>
          </a:p>
        </p:txBody>
      </p:sp>
      <p:sp>
        <p:nvSpPr>
          <p:cNvPr id="15" name="Alt e"/>
          <p:cNvSpPr/>
          <p:nvPr/>
        </p:nvSpPr>
        <p:spPr>
          <a:xfrm>
            <a:off x="950976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692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E3B41"/>
                </a:solidFill>
                <a:latin typeface="Calibri"/>
              </a:rPr>
              <a:t>a</a:t>
            </a:r>
            <a:r>
              <a:rPr sz="1500" b="0" baseline="-25000">
                <a:solidFill>
                  <a:srgbClr val="2E3B41"/>
                </a:solidFill>
                <a:latin typeface="Calibri"/>
              </a:rPr>
              <a:t>n</a:t>
            </a:r>
            <a:r>
              <a:rPr sz="1500" b="0">
                <a:solidFill>
                  <a:srgbClr val="2E3B41"/>
                </a:solidFill>
                <a:latin typeface="Calibri"/>
              </a:rPr>
              <a:t> = n² + 2n + 2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005840"/>
            <a:ext cx="11064240" cy="396056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nunciado"/>
          <p:cNvSpPr txBox="1"/>
          <p:nvPr/>
        </p:nvSpPr>
        <p:spPr>
          <a:xfrm>
            <a:off x="731520" y="1143000"/>
            <a:ext cx="10698480" cy="3731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E3B41"/>
                </a:solidFill>
                <a:latin typeface="Calibri"/>
              </a:rPr>
              <a:t>Um aplicativo acompanha o total acumulado de quilômetros percorridos por um ciclista ao final de cada semana:</a:t>
            </a:r>
          </a:p>
          <a:p>
            <a:pPr algn="l" marL="28575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2E3B41"/>
                </a:solidFill>
                <a:latin typeface="Calibri"/>
              </a:rPr>
              <a:t>1ª semana: 5 km  ·  2ª semana: 10 km  ·  3ª semana: 17 km  ·  4ª semana: 26 km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E3B41"/>
                </a:solidFill>
                <a:latin typeface="Calibri"/>
              </a:rPr>
              <a:t>Com base nos dados das quatro primeiras semanas, o ciclista realizou alguns cálculos a fim de modelar esse percurso e descobrir quantos quilômetros ele percorrerá nas próximas semanas.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E3B41"/>
                </a:solidFill>
                <a:latin typeface="Calibri"/>
              </a:rPr>
              <a:t>Qual é uma possível lei de formação dessa sequência para determinar a quantidade a</a:t>
            </a:r>
            <a:r>
              <a:rPr sz="2200" b="0" baseline="-25000">
                <a:solidFill>
                  <a:srgbClr val="2E3B41"/>
                </a:solidFill>
                <a:latin typeface="Calibri"/>
              </a:rPr>
              <a:t>n</a:t>
            </a:r>
            <a:r>
              <a:rPr sz="2200" b="0">
                <a:solidFill>
                  <a:srgbClr val="2E3B41"/>
                </a:solidFill>
                <a:latin typeface="Calibri"/>
              </a:rPr>
              <a:t> de quilômetros que ele irá pedalar na n-ésima semana?</a:t>
            </a:r>
          </a:p>
        </p:txBody>
      </p:sp>
      <p:grpSp>
        <p:nvGrpSpPr>
          <p:cNvPr id="20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1" name="Rectangle 20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30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8640" y="1005840"/>
              <a:ext cx="6417259" cy="72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5800" y="1033272"/>
              <a:ext cx="6142939" cy="66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As diferenças entre as semanas são constantes? E as diferenças das diferenças?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1908720"/>
              <a:ext cx="6417259" cy="38062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" y="1908720"/>
              <a:ext cx="6417259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5800" y="2384208"/>
              <a:ext cx="6142939" cy="328507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Diferenças: 5, 7, 9 → crescem 2 a cada semana  ⇒  lei do 2º grau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Teste de e) a</a:t>
              </a:r>
              <a:r>
                <a:rPr sz="2400" b="0" baseline="-25000">
                  <a:solidFill>
                    <a:srgbClr val="2E3B41"/>
                  </a:solidFill>
                  <a:latin typeface="Calibri"/>
                </a:rPr>
                <a:t>n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= n² + 2n + 2: 5, 10, 17, 26 ✓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d) falha: a</a:t>
              </a:r>
              <a:r>
                <a:rPr sz="2400" b="0" baseline="-25000">
                  <a:solidFill>
                    <a:srgbClr val="2E3B41"/>
                  </a:solidFill>
                  <a:latin typeface="Calibri"/>
                </a:rPr>
                <a:t>2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= 4 + 2 + 2 = 8 ≠ 10</a:t>
              </a:r>
            </a:p>
          </p:txBody>
        </p:sp>
        <p:sp>
          <p:nvSpPr>
            <p:cNvPr id="28" name="Resposta"/>
            <p:cNvSpPr/>
            <p:nvPr/>
          </p:nvSpPr>
          <p:spPr>
            <a:xfrm>
              <a:off x="7240219" y="1005840"/>
              <a:ext cx="4372661" cy="337628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77379" y="1060704"/>
              <a:ext cx="4098341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7379" y="1345840"/>
              <a:ext cx="4098341" cy="29762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2600" b="1">
                  <a:solidFill>
                    <a:srgbClr val="FFFFFF"/>
                  </a:solidFill>
                  <a:latin typeface="Calibri"/>
                </a:rPr>
                <a:t>e)  a</a:t>
              </a:r>
              <a:r>
                <a:rPr sz="2600" b="1" baseline="-25000">
                  <a:solidFill>
                    <a:srgbClr val="FFFFFF"/>
                  </a:solidFill>
                  <a:latin typeface="Calibri"/>
                </a:rPr>
                <a:t>n</a:t>
              </a:r>
              <a:r>
                <a:rPr sz="2600" b="1">
                  <a:solidFill>
                    <a:srgbClr val="FFFFFF"/>
                  </a:solidFill>
                  <a:latin typeface="Calibri"/>
                </a:rPr>
                <a:t> = n² + 2n + 2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40219" y="4565000"/>
              <a:ext cx="4372661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77379" y="4610720"/>
              <a:ext cx="4098341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Testar só a 1ª semana: b) e e) dão 5 para n = 1.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567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85 · P.A. (aplicação) (1/2)</a:t>
            </a:r>
          </a:p>
        </p:txBody>
      </p:sp>
      <p:sp>
        <p:nvSpPr>
          <p:cNvPr id="3" name="Enunciado"/>
          <p:cNvSpPr txBox="1"/>
          <p:nvPr/>
        </p:nvSpPr>
        <p:spPr>
          <a:xfrm>
            <a:off x="548640" y="1005840"/>
            <a:ext cx="6195974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E3B41"/>
                </a:solidFill>
                <a:latin typeface="Calibri"/>
              </a:rPr>
              <a:t>Para comemorar o período dos jogos interclasse, a direção de uma escola resolveu decorar a parede de um dos corredores com um friso colorido. A ideia foi criar um padrão contínuo de círculos entrelaçados, utilizando a mesma sequência de cores e a mesma disposição do símbolo dos Jogos Olímpicos.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E3B41"/>
                </a:solidFill>
                <a:latin typeface="Calibri"/>
              </a:rPr>
              <a:t>A partir da extremidade inicial dessa parede, que possui 4,45 m de comprimento total, os estudantes desenharam os primeiros cinco círculos. Depois disso, mediram o comprimento total do desenho, encontrando 10,6 cm.</a:t>
            </a:r>
          </a:p>
        </p:txBody>
      </p:sp>
      <p:pic>
        <p:nvPicPr>
          <p:cNvPr id="4" name="Picture 3" descr="q85_fri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609" y="1005840"/>
            <a:ext cx="3936876" cy="813502"/>
          </a:xfrm>
          <a:prstGeom prst="rect">
            <a:avLst/>
          </a:prstGeom>
        </p:spPr>
      </p:pic>
      <p:pic>
        <p:nvPicPr>
          <p:cNvPr id="5" name="Picture 4" descr="q85_lege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609" y="1910782"/>
            <a:ext cx="3936876" cy="952782"/>
          </a:xfrm>
          <a:prstGeom prst="rect">
            <a:avLst/>
          </a:prstGeom>
        </p:spPr>
      </p:pic>
      <p:pic>
        <p:nvPicPr>
          <p:cNvPr id="6" name="Picture 5" descr="q85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609" y="2955004"/>
            <a:ext cx="3936876" cy="27599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567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85 · P.A. (aplicação) (2/2)</a:t>
            </a:r>
          </a:p>
        </p:txBody>
      </p:sp>
      <p:sp>
        <p:nvSpPr>
          <p:cNvPr id="3" name="Alt a"/>
          <p:cNvSpPr/>
          <p:nvPr/>
        </p:nvSpPr>
        <p:spPr>
          <a:xfrm>
            <a:off x="54864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0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209.</a:t>
            </a:r>
          </a:p>
        </p:txBody>
      </p:sp>
      <p:sp>
        <p:nvSpPr>
          <p:cNvPr id="6" name="Alt b"/>
          <p:cNvSpPr/>
          <p:nvPr/>
        </p:nvSpPr>
        <p:spPr>
          <a:xfrm>
            <a:off x="278892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8036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08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227.</a:t>
            </a:r>
          </a:p>
        </p:txBody>
      </p:sp>
      <p:sp>
        <p:nvSpPr>
          <p:cNvPr id="9" name="Alt c"/>
          <p:cNvSpPr/>
          <p:nvPr/>
        </p:nvSpPr>
        <p:spPr>
          <a:xfrm>
            <a:off x="502920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636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245.</a:t>
            </a:r>
          </a:p>
        </p:txBody>
      </p:sp>
      <p:sp>
        <p:nvSpPr>
          <p:cNvPr id="12" name="Alt d"/>
          <p:cNvSpPr/>
          <p:nvPr/>
        </p:nvSpPr>
        <p:spPr>
          <a:xfrm>
            <a:off x="726948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6092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664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246.</a:t>
            </a:r>
          </a:p>
        </p:txBody>
      </p:sp>
      <p:sp>
        <p:nvSpPr>
          <p:cNvPr id="15" name="Alt e"/>
          <p:cNvSpPr/>
          <p:nvPr/>
        </p:nvSpPr>
        <p:spPr>
          <a:xfrm>
            <a:off x="950976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692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247.</a:t>
            </a:r>
          </a:p>
        </p:txBody>
      </p:sp>
      <p:sp>
        <p:nvSpPr>
          <p:cNvPr id="18" name="Enunciado"/>
          <p:cNvSpPr txBox="1"/>
          <p:nvPr/>
        </p:nvSpPr>
        <p:spPr>
          <a:xfrm>
            <a:off x="548640" y="1005840"/>
            <a:ext cx="6195974" cy="4006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E3B41"/>
                </a:solidFill>
                <a:latin typeface="Calibri"/>
              </a:rPr>
              <a:t>Em seguida, desenharam mais cinco círculos, dando continuidade ao padrão de entrelaçamento, e mediram novamente o desenho, encontrando 19,6 cm.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E3B41"/>
                </a:solidFill>
                <a:latin typeface="Calibri"/>
              </a:rPr>
              <a:t>O desenho continuou com os centros dos círculos sobre duas linhas horizontais, mantendo constante a distância horizontal entre os centros de dois círculos consecutivos, até o limite físico da parede.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E3B41"/>
                </a:solidFill>
                <a:latin typeface="Calibri"/>
              </a:rPr>
              <a:t>O número máximo de círculos completos de mesmo diâmetro que puderam ser desenhados ao longo dessa parede foi</a:t>
            </a:r>
          </a:p>
        </p:txBody>
      </p:sp>
      <p:pic>
        <p:nvPicPr>
          <p:cNvPr id="19" name="Picture 18" descr="q85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214" y="1005840"/>
            <a:ext cx="4639666" cy="1818087"/>
          </a:xfrm>
          <a:prstGeom prst="rect">
            <a:avLst/>
          </a:prstGeom>
        </p:spPr>
      </p:pic>
      <p:grpSp>
        <p:nvGrpSpPr>
          <p:cNvPr id="20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1" name="Rectangle 20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35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8640" y="1005840"/>
              <a:ext cx="6417259" cy="72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5800" y="1033272"/>
              <a:ext cx="6142939" cy="66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Quanto o desenho cresce a cada círculo novo?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1908720"/>
              <a:ext cx="6417259" cy="38062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" y="1908720"/>
              <a:ext cx="6417259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5800" y="2384208"/>
              <a:ext cx="6142939" cy="328507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De 5 para 10 círculos: 19,6 − 10,6 = 9 cm  ⇒  1,8 cm por círculo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C(n) = 10,6 + (n − 5) · 1,8 ≤ 445 cm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n − 5 ≤ 241,3  ⇒  n − 5 = 241  ⇒  </a:t>
              </a:r>
              <a:r>
                <a:rPr sz="2400" b="1">
                  <a:solidFill>
                    <a:srgbClr val="2E3B41"/>
                  </a:solidFill>
                  <a:latin typeface="Calibri"/>
                </a:rPr>
                <a:t>n = 246</a:t>
              </a:r>
            </a:p>
          </p:txBody>
        </p:sp>
        <p:sp>
          <p:nvSpPr>
            <p:cNvPr id="28" name="Resposta"/>
            <p:cNvSpPr/>
            <p:nvPr/>
          </p:nvSpPr>
          <p:spPr>
            <a:xfrm>
              <a:off x="7240219" y="1005840"/>
              <a:ext cx="4372661" cy="337628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77379" y="1060704"/>
              <a:ext cx="4098341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7379" y="1345840"/>
              <a:ext cx="4098341" cy="29762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5400" b="1">
                  <a:solidFill>
                    <a:srgbClr val="FFFFFF"/>
                  </a:solidFill>
                  <a:latin typeface="Calibri"/>
                </a:rPr>
                <a:t>d)  246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40219" y="4565000"/>
              <a:ext cx="4372661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77379" y="4610720"/>
              <a:ext cx="4098341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Usar 9 cm por círculo: os 9 cm correspondem a 5 círculos.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188720"/>
            <a:ext cx="2100000" cy="411480"/>
          </a:xfrm>
          <a:prstGeom prst="roundRect">
            <a:avLst>
              <a:gd name="adj" fmla="val 50000"/>
            </a:avLst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9598"/>
                </a:solidFill>
                <a:latin typeface="Calibri"/>
              </a:rPr>
              <a:t>BLOCO 3 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0000"/>
            <a:ext cx="6400000" cy="140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2E3B41"/>
                </a:solidFill>
                <a:latin typeface="Calibri"/>
              </a:rPr>
              <a:t>Módulo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000000"/>
            <a:ext cx="6000000" cy="100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6B70"/>
                </a:solidFill>
                <a:latin typeface="Calibri"/>
              </a:rPr>
              <a:t>|A| = c gera dois casos · o módulo rebate para cima a parte negativa do gráfico.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188720"/>
            <a:ext cx="4023360" cy="168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0" y="1188720"/>
            <a:ext cx="4023360" cy="384048"/>
          </a:xfrm>
          <a:prstGeom prst="rect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Questões deste bloco</a:t>
            </a:r>
          </a:p>
        </p:txBody>
      </p:sp>
      <p:sp>
        <p:nvSpPr>
          <p:cNvPr id="7" name="Oval 6"/>
          <p:cNvSpPr/>
          <p:nvPr/>
        </p:nvSpPr>
        <p:spPr>
          <a:xfrm>
            <a:off x="7818120" y="173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9520" y="170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Equação modular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29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9520" y="226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Função modular</a:t>
            </a:r>
          </a:p>
        </p:txBody>
      </p:sp>
      <p:sp>
        <p:nvSpPr>
          <p:cNvPr id="11" name="Voltar ao roteiro">
            <a:hlinkClick action="ppaction://hlinksldjump" r:id="rId2"/>
          </p:cNvPr>
          <p:cNvSpPr/>
          <p:nvPr/>
        </p:nvSpPr>
        <p:spPr>
          <a:xfrm>
            <a:off x="685800" y="4850000"/>
            <a:ext cx="1900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9598"/>
                </a:solidFill>
                <a:latin typeface="Calibri"/>
              </a:rPr>
              <a:t>↩ Roteiro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462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77 · Equação modular</a:t>
            </a:r>
          </a:p>
        </p:txBody>
      </p:sp>
      <p:sp>
        <p:nvSpPr>
          <p:cNvPr id="3" name="Alt a"/>
          <p:cNvSpPr/>
          <p:nvPr/>
        </p:nvSpPr>
        <p:spPr>
          <a:xfrm>
            <a:off x="54864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0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5</a:t>
            </a:r>
          </a:p>
        </p:txBody>
      </p:sp>
      <p:sp>
        <p:nvSpPr>
          <p:cNvPr id="6" name="Alt b"/>
          <p:cNvSpPr/>
          <p:nvPr/>
        </p:nvSpPr>
        <p:spPr>
          <a:xfrm>
            <a:off x="278892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8036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08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10</a:t>
            </a:r>
          </a:p>
        </p:txBody>
      </p:sp>
      <p:sp>
        <p:nvSpPr>
          <p:cNvPr id="9" name="Alt c"/>
          <p:cNvSpPr/>
          <p:nvPr/>
        </p:nvSpPr>
        <p:spPr>
          <a:xfrm>
            <a:off x="502920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636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25</a:t>
            </a:r>
          </a:p>
        </p:txBody>
      </p:sp>
      <p:sp>
        <p:nvSpPr>
          <p:cNvPr id="12" name="Alt d"/>
          <p:cNvSpPr/>
          <p:nvPr/>
        </p:nvSpPr>
        <p:spPr>
          <a:xfrm>
            <a:off x="726948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6092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664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30</a:t>
            </a:r>
          </a:p>
        </p:txBody>
      </p:sp>
      <p:sp>
        <p:nvSpPr>
          <p:cNvPr id="15" name="Alt e"/>
          <p:cNvSpPr/>
          <p:nvPr/>
        </p:nvSpPr>
        <p:spPr>
          <a:xfrm>
            <a:off x="950976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692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005840"/>
            <a:ext cx="11064240" cy="396056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nunciado"/>
          <p:cNvSpPr txBox="1"/>
          <p:nvPr/>
        </p:nvSpPr>
        <p:spPr>
          <a:xfrm>
            <a:off x="731520" y="1143000"/>
            <a:ext cx="10698480" cy="3731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E3B41"/>
                </a:solidFill>
                <a:latin typeface="Calibri"/>
              </a:rPr>
              <a:t>O valor v de cashback recebido por um cliente ao realizar uma compra em um determinado site é dado pela solução da equação modular |5v − 100| = 150, que relaciona o saldo, em real, recebido de volta com o valor gasto.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2E3B41"/>
                </a:solidFill>
                <a:latin typeface="Calibri"/>
              </a:rPr>
              <a:t>Nessas condições, qual é o valor, em real, de cashback que esse cliente receberá pela compra que fez?</a:t>
            </a:r>
          </a:p>
        </p:txBody>
      </p:sp>
      <p:grpSp>
        <p:nvGrpSpPr>
          <p:cNvPr id="20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1" name="Rectangle 20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30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8640" y="1005840"/>
              <a:ext cx="6417259" cy="72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5800" y="1033272"/>
              <a:ext cx="6142939" cy="66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Uma equação do tipo |A| = 150 gera quantos casos?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1908720"/>
              <a:ext cx="6417259" cy="38062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" y="1908720"/>
              <a:ext cx="6417259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5800" y="2384208"/>
              <a:ext cx="6142939" cy="328507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5v − 100 = 150  ⇒  v = 50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5v − 100 = −150  ⇒  v = −10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Cashback não pode ser negativo  ⇒  </a:t>
              </a:r>
              <a:r>
                <a:rPr sz="2400" b="1">
                  <a:solidFill>
                    <a:srgbClr val="2E3B41"/>
                  </a:solidFill>
                  <a:latin typeface="Calibri"/>
                </a:rPr>
                <a:t>v = 50</a:t>
              </a:r>
            </a:p>
          </p:txBody>
        </p:sp>
        <p:sp>
          <p:nvSpPr>
            <p:cNvPr id="28" name="Resposta"/>
            <p:cNvSpPr/>
            <p:nvPr/>
          </p:nvSpPr>
          <p:spPr>
            <a:xfrm>
              <a:off x="7240219" y="1005840"/>
              <a:ext cx="4372661" cy="337628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77379" y="1060704"/>
              <a:ext cx="4098341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7379" y="1345840"/>
              <a:ext cx="4098341" cy="29762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5400" b="1">
                  <a:solidFill>
                    <a:srgbClr val="FFFFFF"/>
                  </a:solidFill>
                  <a:latin typeface="Calibri"/>
                </a:rPr>
                <a:t>e)  50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40219" y="4565000"/>
              <a:ext cx="4372661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77379" y="4610720"/>
              <a:ext cx="4098341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Resolver só um caso ou não descartar a solução negativa.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447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84 · Função modular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4435000"/>
            <a:ext cx="2103120" cy="12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" y="4508152"/>
            <a:ext cx="330000" cy="33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pic>
        <p:nvPicPr>
          <p:cNvPr id="5" name="Picture 4" descr="q84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00" y="4526440"/>
            <a:ext cx="1176799" cy="1097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88920" y="4435000"/>
            <a:ext cx="2103120" cy="12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62072" y="4508152"/>
            <a:ext cx="330000" cy="33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pic>
        <p:nvPicPr>
          <p:cNvPr id="8" name="Picture 7" descr="q84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080" y="4526440"/>
            <a:ext cx="1176799" cy="1097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0" y="4435000"/>
            <a:ext cx="2103120" cy="12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02352" y="4508152"/>
            <a:ext cx="330000" cy="33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pic>
        <p:nvPicPr>
          <p:cNvPr id="11" name="Picture 10" descr="q84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360" y="4526440"/>
            <a:ext cx="1176799" cy="10971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269480" y="4435000"/>
            <a:ext cx="2103120" cy="12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42632" y="4508152"/>
            <a:ext cx="330000" cy="33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pic>
        <p:nvPicPr>
          <p:cNvPr id="14" name="Picture 13" descr="q84_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7640" y="4526440"/>
            <a:ext cx="1176799" cy="10971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509760" y="4435000"/>
            <a:ext cx="2103120" cy="12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82912" y="4508152"/>
            <a:ext cx="330000" cy="33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pic>
        <p:nvPicPr>
          <p:cNvPr id="17" name="Picture 16" descr="q84_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7920" y="4526440"/>
            <a:ext cx="1176799" cy="10971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48640" y="1005840"/>
            <a:ext cx="11064240" cy="324628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nunciado"/>
          <p:cNvSpPr txBox="1"/>
          <p:nvPr/>
        </p:nvSpPr>
        <p:spPr>
          <a:xfrm>
            <a:off x="731520" y="1143000"/>
            <a:ext cx="10698480" cy="3017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E3B41"/>
                </a:solidFill>
                <a:latin typeface="Calibri"/>
              </a:rPr>
              <a:t>As letras que aparecem no display de um aparelho eletrônico obedecem aos formatos gráficos de algumas funções algébricas. O formato da letra M, por exemplo, é obtido do trecho da função y = 4 + 5|x| − x², em que y ≥ 0.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2E3B41"/>
                </a:solidFill>
                <a:latin typeface="Calibri"/>
              </a:rPr>
              <a:t>Qual dos gráficos a seguir melhor representa a fonte da letra M nessa tela?</a:t>
            </a:r>
          </a:p>
        </p:txBody>
      </p:sp>
      <p:grpSp>
        <p:nvGrpSpPr>
          <p:cNvPr id="20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1" name="Rectangle 20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15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8640" y="1005840"/>
              <a:ext cx="6417259" cy="72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5800" y="1033272"/>
              <a:ext cx="6142939" cy="66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Onde fica o “bico” do M? O gráfico pode descer abaixo do eixo x?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1908720"/>
              <a:ext cx="6417259" cy="38062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" y="1908720"/>
              <a:ext cx="6417259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5800" y="2384208"/>
              <a:ext cx="6142939" cy="328507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1400"/>
                </a:spcAft>
              </a:pPr>
              <a:r>
                <a:rPr sz="23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2300" b="0">
                  <a:solidFill>
                    <a:srgbClr val="2E3B41"/>
                  </a:solidFill>
                  <a:latin typeface="Calibri"/>
                </a:rPr>
                <a:t> x = 0  ⇒  y = 4: bico acima da origem (elimina b e d)</a:t>
              </a:r>
            </a:p>
            <a:p>
              <a:pPr algn="l">
                <a:spcAft>
                  <a:spcPts val="1400"/>
                </a:spcAft>
              </a:pPr>
              <a:r>
                <a:rPr sz="23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2300" b="0">
                  <a:solidFill>
                    <a:srgbClr val="2E3B41"/>
                  </a:solidFill>
                  <a:latin typeface="Calibri"/>
                </a:rPr>
                <a:t> Para x ≥ 0: parábola −x² + 5x + 4, vértice (2,5; 10,25): arcos curvos (elimina a)</a:t>
              </a:r>
            </a:p>
            <a:p>
              <a:pPr algn="l">
                <a:spcAft>
                  <a:spcPts val="1400"/>
                </a:spcAft>
              </a:pPr>
              <a:r>
                <a:rPr sz="23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2300" b="0">
                  <a:solidFill>
                    <a:srgbClr val="2E3B41"/>
                  </a:solidFill>
                  <a:latin typeface="Calibri"/>
                </a:rPr>
                <a:t> Raízes ≈ ±5,7 e y ≥ 0: o gráfico termina no eixo x (elimina c)</a:t>
              </a:r>
            </a:p>
          </p:txBody>
        </p:sp>
        <p:sp>
          <p:nvSpPr>
            <p:cNvPr id="28" name="Resposta"/>
            <p:cNvSpPr/>
            <p:nvPr/>
          </p:nvSpPr>
          <p:spPr>
            <a:xfrm>
              <a:off x="7240219" y="1005840"/>
              <a:ext cx="4372661" cy="110000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77379" y="1060704"/>
              <a:ext cx="4098341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7379" y="1345840"/>
              <a:ext cx="4098341" cy="70000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3000" b="1">
                  <a:solidFill>
                    <a:srgbClr val="FFFFFF"/>
                  </a:solidFill>
                  <a:latin typeface="Calibri"/>
                </a:rPr>
                <a:t>e)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40219" y="4565000"/>
              <a:ext cx="4372661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77379" y="4610720"/>
              <a:ext cx="4098341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Ignorar a condição y ≥ 0 e marcar c).</a:t>
              </a:r>
            </a:p>
          </p:txBody>
        </p:sp>
        <p:pic>
          <p:nvPicPr>
            <p:cNvPr id="33" name="Picture 32" descr="r84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77927" y="2288720"/>
              <a:ext cx="2897244" cy="213912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188720"/>
            <a:ext cx="2100000" cy="411480"/>
          </a:xfrm>
          <a:prstGeom prst="roundRect">
            <a:avLst>
              <a:gd name="adj" fmla="val 50000"/>
            </a:avLst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9598"/>
                </a:solidFill>
                <a:latin typeface="Calibri"/>
              </a:rPr>
              <a:t>BLOCO 4 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0000"/>
            <a:ext cx="6400000" cy="140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2E3B41"/>
                </a:solidFill>
                <a:latin typeface="Calibri"/>
              </a:rPr>
              <a:t>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000000"/>
            <a:ext cx="6000000" cy="100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6B70"/>
                </a:solidFill>
                <a:latin typeface="Calibri"/>
              </a:rPr>
              <a:t>Média × quantidade = soma · na ponderada, divide-se pela soma dos pesos.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188720"/>
            <a:ext cx="4023360" cy="280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0" y="1188720"/>
            <a:ext cx="4023360" cy="384048"/>
          </a:xfrm>
          <a:prstGeom prst="rect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Questões deste bloco</a:t>
            </a:r>
          </a:p>
        </p:txBody>
      </p:sp>
      <p:sp>
        <p:nvSpPr>
          <p:cNvPr id="7" name="Oval 6"/>
          <p:cNvSpPr/>
          <p:nvPr/>
        </p:nvSpPr>
        <p:spPr>
          <a:xfrm>
            <a:off x="7818120" y="173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9520" y="170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Média geométrica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29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9520" y="226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Média aritmética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5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9520" y="282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Média ponderada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1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9520" y="338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Média aritmética</a:t>
            </a:r>
          </a:p>
        </p:txBody>
      </p:sp>
      <p:sp>
        <p:nvSpPr>
          <p:cNvPr id="15" name="Voltar ao roteiro">
            <a:hlinkClick action="ppaction://hlinksldjump" r:id="rId2"/>
          </p:cNvPr>
          <p:cNvSpPr/>
          <p:nvPr/>
        </p:nvSpPr>
        <p:spPr>
          <a:xfrm>
            <a:off x="685800" y="4850000"/>
            <a:ext cx="1900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9598"/>
                </a:solidFill>
                <a:latin typeface="Calibri"/>
              </a:rPr>
              <a:t>↩ Roteiro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477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71 · Média geométrica</a:t>
            </a:r>
          </a:p>
        </p:txBody>
      </p:sp>
      <p:sp>
        <p:nvSpPr>
          <p:cNvPr id="3" name="Alt a"/>
          <p:cNvSpPr/>
          <p:nvPr/>
        </p:nvSpPr>
        <p:spPr>
          <a:xfrm>
            <a:off x="54864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0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32%.</a:t>
            </a:r>
          </a:p>
        </p:txBody>
      </p:sp>
      <p:sp>
        <p:nvSpPr>
          <p:cNvPr id="6" name="Alt b"/>
          <p:cNvSpPr/>
          <p:nvPr/>
        </p:nvSpPr>
        <p:spPr>
          <a:xfrm>
            <a:off x="278892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8036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08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40%.</a:t>
            </a:r>
          </a:p>
        </p:txBody>
      </p:sp>
      <p:sp>
        <p:nvSpPr>
          <p:cNvPr id="9" name="Alt c"/>
          <p:cNvSpPr/>
          <p:nvPr/>
        </p:nvSpPr>
        <p:spPr>
          <a:xfrm>
            <a:off x="502920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636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50%.</a:t>
            </a:r>
          </a:p>
        </p:txBody>
      </p:sp>
      <p:sp>
        <p:nvSpPr>
          <p:cNvPr id="12" name="Alt d"/>
          <p:cNvSpPr/>
          <p:nvPr/>
        </p:nvSpPr>
        <p:spPr>
          <a:xfrm>
            <a:off x="726948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6092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664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63%.</a:t>
            </a:r>
          </a:p>
        </p:txBody>
      </p:sp>
      <p:sp>
        <p:nvSpPr>
          <p:cNvPr id="15" name="Alt e"/>
          <p:cNvSpPr/>
          <p:nvPr/>
        </p:nvSpPr>
        <p:spPr>
          <a:xfrm>
            <a:off x="950976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692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65%.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005840"/>
            <a:ext cx="11064240" cy="396056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nunciado"/>
          <p:cNvSpPr txBox="1"/>
          <p:nvPr/>
        </p:nvSpPr>
        <p:spPr>
          <a:xfrm>
            <a:off x="731520" y="1143000"/>
            <a:ext cx="10698480" cy="3731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2E3B41"/>
                </a:solidFill>
                <a:latin typeface="Calibri"/>
              </a:rPr>
              <a:t>Um modelo computacional foi avaliado em duas situações diferentes (I e II), medindo-se a sua taxa de acerto em cada uma delas, como apresentado a seguir:</a:t>
            </a:r>
          </a:p>
          <a:p>
            <a:pPr algn="l" marL="285750" indent="-228600">
              <a:spcAft>
                <a:spcPts val="600"/>
              </a:spcAft>
              <a:buFont typeface="Arial"/>
              <a:buChar char="•"/>
            </a:pPr>
            <a:r>
              <a:rPr sz="2300" b="0">
                <a:solidFill>
                  <a:srgbClr val="2E3B41"/>
                </a:solidFill>
                <a:latin typeface="Calibri"/>
              </a:rPr>
              <a:t>Situação I: acerto de 49%;</a:t>
            </a:r>
          </a:p>
          <a:p>
            <a:pPr algn="l" marL="285750" indent="-228600">
              <a:spcAft>
                <a:spcPts val="600"/>
              </a:spcAft>
              <a:buFont typeface="Arial"/>
              <a:buChar char="•"/>
            </a:pPr>
            <a:r>
              <a:rPr sz="2300" b="0">
                <a:solidFill>
                  <a:srgbClr val="2E3B41"/>
                </a:solidFill>
                <a:latin typeface="Calibri"/>
              </a:rPr>
              <a:t>Situação II: acerto de 81%.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2E3B41"/>
                </a:solidFill>
                <a:latin typeface="Calibri"/>
              </a:rPr>
              <a:t>Para calcular o desempenho do modelo, o técnico responsável usou como referência a média geométrica desses dois valores de taxas de acerto.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2E3B41"/>
                </a:solidFill>
                <a:latin typeface="Calibri"/>
              </a:rPr>
              <a:t>O desempenho obtido foi igual a</a:t>
            </a:r>
          </a:p>
        </p:txBody>
      </p:sp>
      <p:grpSp>
        <p:nvGrpSpPr>
          <p:cNvPr id="20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1" name="Rectangle 20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45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8640" y="1005840"/>
              <a:ext cx="6417259" cy="72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5800" y="1033272"/>
              <a:ext cx="6142939" cy="66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O que é média geométrica? Em que ela difere da média aritmética?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1908720"/>
              <a:ext cx="6417259" cy="38062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" y="1908720"/>
              <a:ext cx="6417259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5800" y="2384208"/>
              <a:ext cx="6142939" cy="328507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Média geométrica de dois valores: MG = √(a · b)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MG = √(49 · 81) = √49 · √81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MG = 7 · 9 = </a:t>
              </a:r>
              <a:r>
                <a:rPr sz="2400" b="1">
                  <a:solidFill>
                    <a:srgbClr val="2E3B41"/>
                  </a:solidFill>
                  <a:latin typeface="Calibri"/>
                </a:rPr>
                <a:t>63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→ desempenho de 63%</a:t>
              </a:r>
            </a:p>
          </p:txBody>
        </p:sp>
        <p:sp>
          <p:nvSpPr>
            <p:cNvPr id="28" name="Resposta"/>
            <p:cNvSpPr/>
            <p:nvPr/>
          </p:nvSpPr>
          <p:spPr>
            <a:xfrm>
              <a:off x="7240219" y="1005840"/>
              <a:ext cx="4372661" cy="337628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77379" y="1060704"/>
              <a:ext cx="4098341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7379" y="1345840"/>
              <a:ext cx="4098341" cy="29762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5400" b="1">
                  <a:solidFill>
                    <a:srgbClr val="FFFFFF"/>
                  </a:solidFill>
                  <a:latin typeface="Calibri"/>
                </a:rPr>
                <a:t>d)  63%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40219" y="4565000"/>
              <a:ext cx="4372661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77379" y="4610720"/>
              <a:ext cx="4098341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Usar a média aritmética: (49 + 81) ÷ 2 = 65% (alternativa e).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477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82 · Média aritmética</a:t>
            </a:r>
          </a:p>
        </p:txBody>
      </p:sp>
      <p:sp>
        <p:nvSpPr>
          <p:cNvPr id="3" name="Alt a"/>
          <p:cNvSpPr/>
          <p:nvPr/>
        </p:nvSpPr>
        <p:spPr>
          <a:xfrm>
            <a:off x="54864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0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40 L</a:t>
            </a:r>
          </a:p>
        </p:txBody>
      </p:sp>
      <p:sp>
        <p:nvSpPr>
          <p:cNvPr id="6" name="Alt b"/>
          <p:cNvSpPr/>
          <p:nvPr/>
        </p:nvSpPr>
        <p:spPr>
          <a:xfrm>
            <a:off x="278892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8036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08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41 L</a:t>
            </a:r>
          </a:p>
        </p:txBody>
      </p:sp>
      <p:sp>
        <p:nvSpPr>
          <p:cNvPr id="9" name="Alt c"/>
          <p:cNvSpPr/>
          <p:nvPr/>
        </p:nvSpPr>
        <p:spPr>
          <a:xfrm>
            <a:off x="502920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636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42 L</a:t>
            </a:r>
          </a:p>
        </p:txBody>
      </p:sp>
      <p:sp>
        <p:nvSpPr>
          <p:cNvPr id="12" name="Alt d"/>
          <p:cNvSpPr/>
          <p:nvPr/>
        </p:nvSpPr>
        <p:spPr>
          <a:xfrm>
            <a:off x="726948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6092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664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43 L</a:t>
            </a:r>
          </a:p>
        </p:txBody>
      </p:sp>
      <p:sp>
        <p:nvSpPr>
          <p:cNvPr id="15" name="Alt e"/>
          <p:cNvSpPr/>
          <p:nvPr/>
        </p:nvSpPr>
        <p:spPr>
          <a:xfrm>
            <a:off x="950976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692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44 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005840"/>
            <a:ext cx="11064240" cy="396056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nunciado"/>
          <p:cNvSpPr txBox="1"/>
          <p:nvPr/>
        </p:nvSpPr>
        <p:spPr>
          <a:xfrm>
            <a:off x="731520" y="1143000"/>
            <a:ext cx="10698480" cy="3731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2E3B41"/>
                </a:solidFill>
                <a:latin typeface="Calibri"/>
              </a:rPr>
              <a:t>Uma cooperativa de transporte monitora o consumo médio diário de combustível (em litro) de cinco veículos, numerados de I a V, ao longo de uma semana. Ao final do período, foram obtidas as seguintes informações:</a:t>
            </a:r>
          </a:p>
          <a:p>
            <a:pPr algn="l" marL="285750" indent="-228600">
              <a:spcAft>
                <a:spcPts val="600"/>
              </a:spcAft>
              <a:buFont typeface="Arial"/>
              <a:buChar char="•"/>
            </a:pPr>
            <a:r>
              <a:rPr sz="2300" b="0">
                <a:solidFill>
                  <a:srgbClr val="2E3B41"/>
                </a:solidFill>
                <a:latin typeface="Calibri"/>
              </a:rPr>
              <a:t>A média aritmética dos consumos dos veículos I, II e III foi 40 L;</a:t>
            </a:r>
          </a:p>
          <a:p>
            <a:pPr algn="l" marL="285750" indent="-228600">
              <a:spcAft>
                <a:spcPts val="600"/>
              </a:spcAft>
              <a:buFont typeface="Arial"/>
              <a:buChar char="•"/>
            </a:pPr>
            <a:r>
              <a:rPr sz="2300" b="0">
                <a:solidFill>
                  <a:srgbClr val="2E3B41"/>
                </a:solidFill>
                <a:latin typeface="Calibri"/>
              </a:rPr>
              <a:t>A média aritmética dos consumos dos veículos III, IV e V foi 44 L;</a:t>
            </a:r>
          </a:p>
          <a:p>
            <a:pPr algn="l" marL="285750" indent="-228600">
              <a:spcAft>
                <a:spcPts val="600"/>
              </a:spcAft>
              <a:buFont typeface="Arial"/>
              <a:buChar char="•"/>
            </a:pPr>
            <a:r>
              <a:rPr sz="2300" b="0">
                <a:solidFill>
                  <a:srgbClr val="2E3B41"/>
                </a:solidFill>
                <a:latin typeface="Calibri"/>
              </a:rPr>
              <a:t>O consumo do veículo III foi de 40 L.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2E3B41"/>
                </a:solidFill>
                <a:latin typeface="Calibri"/>
              </a:rPr>
              <a:t>Qual é a média aritmética dos consumos diários dos veículos I, II, IV e V?</a:t>
            </a:r>
          </a:p>
        </p:txBody>
      </p:sp>
      <p:grpSp>
        <p:nvGrpSpPr>
          <p:cNvPr id="20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1" name="Rectangle 20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45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8640" y="1005840"/>
              <a:ext cx="6417259" cy="72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5800" y="1033272"/>
              <a:ext cx="6142939" cy="66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Se a média de 3 veículos é 40 L, qual é a soma dos consumos?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1908720"/>
              <a:ext cx="6417259" cy="38062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" y="1908720"/>
              <a:ext cx="6417259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5800" y="2384208"/>
              <a:ext cx="6142939" cy="328507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I + II + III = 3 · 40 = 120  ⇒  I + II = 80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III + IV + V = 3 · 44 = 132  ⇒  IV + V = 92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Média = (80 + 92) ÷ 4 = </a:t>
              </a:r>
              <a:r>
                <a:rPr sz="2400" b="1">
                  <a:solidFill>
                    <a:srgbClr val="2E3B41"/>
                  </a:solidFill>
                  <a:latin typeface="Calibri"/>
                </a:rPr>
                <a:t>43 L</a:t>
              </a:r>
            </a:p>
          </p:txBody>
        </p:sp>
        <p:sp>
          <p:nvSpPr>
            <p:cNvPr id="28" name="Resposta"/>
            <p:cNvSpPr/>
            <p:nvPr/>
          </p:nvSpPr>
          <p:spPr>
            <a:xfrm>
              <a:off x="7240219" y="1005840"/>
              <a:ext cx="4372661" cy="337628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77379" y="1060704"/>
              <a:ext cx="4098341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7379" y="1345840"/>
              <a:ext cx="4098341" cy="29762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5400" b="1">
                  <a:solidFill>
                    <a:srgbClr val="FFFFFF"/>
                  </a:solidFill>
                  <a:latin typeface="Calibri"/>
                </a:rPr>
                <a:t>d)  43 L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40219" y="4565000"/>
              <a:ext cx="4372661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77379" y="4610720"/>
              <a:ext cx="4098341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Fazer a média das médias: (40 + 44) ÷ 2 = 42 L.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462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87 · Média ponderada</a:t>
            </a:r>
          </a:p>
        </p:txBody>
      </p:sp>
      <p:sp>
        <p:nvSpPr>
          <p:cNvPr id="3" name="Alt a"/>
          <p:cNvSpPr/>
          <p:nvPr/>
        </p:nvSpPr>
        <p:spPr>
          <a:xfrm>
            <a:off x="54864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0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3,3</a:t>
            </a:r>
          </a:p>
        </p:txBody>
      </p:sp>
      <p:sp>
        <p:nvSpPr>
          <p:cNvPr id="6" name="Alt b"/>
          <p:cNvSpPr/>
          <p:nvPr/>
        </p:nvSpPr>
        <p:spPr>
          <a:xfrm>
            <a:off x="278892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8036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08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7,3</a:t>
            </a:r>
          </a:p>
        </p:txBody>
      </p:sp>
      <p:sp>
        <p:nvSpPr>
          <p:cNvPr id="9" name="Alt c"/>
          <p:cNvSpPr/>
          <p:nvPr/>
        </p:nvSpPr>
        <p:spPr>
          <a:xfrm>
            <a:off x="502920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636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7,7</a:t>
            </a:r>
          </a:p>
        </p:txBody>
      </p:sp>
      <p:sp>
        <p:nvSpPr>
          <p:cNvPr id="12" name="Alt d"/>
          <p:cNvSpPr/>
          <p:nvPr/>
        </p:nvSpPr>
        <p:spPr>
          <a:xfrm>
            <a:off x="726948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6092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664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7,8</a:t>
            </a:r>
          </a:p>
        </p:txBody>
      </p:sp>
      <p:sp>
        <p:nvSpPr>
          <p:cNvPr id="15" name="Alt e"/>
          <p:cNvSpPr/>
          <p:nvPr/>
        </p:nvSpPr>
        <p:spPr>
          <a:xfrm>
            <a:off x="950976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692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8,0</a:t>
            </a:r>
          </a:p>
        </p:txBody>
      </p:sp>
      <p:sp>
        <p:nvSpPr>
          <p:cNvPr id="18" name="Enunciado"/>
          <p:cNvSpPr txBox="1"/>
          <p:nvPr/>
        </p:nvSpPr>
        <p:spPr>
          <a:xfrm>
            <a:off x="548640" y="1005840"/>
            <a:ext cx="6195974" cy="4006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2E3B41"/>
                </a:solidFill>
                <a:latin typeface="Calibri"/>
              </a:rPr>
              <a:t>Tiago está decidindo entre dois modelos de celular, A e B, para comprar. Para isso, ele comparou três critérios técnicos dos aparelhos, atribuindo pesos para cada um, de acordo com o que ele considera mais importante.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2E3B41"/>
                </a:solidFill>
                <a:latin typeface="Calibri"/>
              </a:rPr>
              <a:t>Para fazer a escolha, ele decidiu que comprará o celular que obtiver a maior média ponderada.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2E3B41"/>
                </a:solidFill>
                <a:latin typeface="Calibri"/>
              </a:rPr>
              <a:t>Com base nesses critérios, qual será esse valor para o modelo escolhido?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973214" y="1005840"/>
          <a:ext cx="4639665" cy="160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55866"/>
                <a:gridCol w="927933"/>
                <a:gridCol w="927933"/>
                <a:gridCol w="927933"/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Peso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Processador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Câmera</a:t>
                      </a:r>
                    </a:p>
                  </a:txBody>
                  <a:tcPr marL="45720" marR="45720" marT="18288" marB="18288" anchor="ctr">
                    <a:solidFill>
                      <a:srgbClr val="E2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E2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 anchor="ctr">
                    <a:solidFill>
                      <a:srgbClr val="E2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18288" marB="18288" anchor="ctr">
                    <a:solidFill>
                      <a:srgbClr val="E2F3F3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Bateria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0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1" name="Rectangle 20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30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8640" y="1005840"/>
              <a:ext cx="6417259" cy="72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5800" y="1033272"/>
              <a:ext cx="6142939" cy="66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Como se monta uma média ponderada? Por quanto dividimos?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1908720"/>
              <a:ext cx="6417259" cy="38062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" y="1908720"/>
              <a:ext cx="6417259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5800" y="2384208"/>
              <a:ext cx="6142939" cy="328507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Soma dos pesos: 5 + 3 + 2 = 10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A: (7·5 + 9·3 + 8·2) ÷ 10 = 78 ÷ 10 = </a:t>
              </a:r>
              <a:r>
                <a:rPr sz="2400" b="1">
                  <a:solidFill>
                    <a:srgbClr val="2E3B41"/>
                  </a:solidFill>
                  <a:latin typeface="Calibri"/>
                </a:rPr>
                <a:t>7,8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B: (9·5 + 6·3 + 7·2) ÷ 10 = 77 ÷ 10 = 7,7  ⇒  escolhe A</a:t>
              </a:r>
            </a:p>
          </p:txBody>
        </p:sp>
        <p:sp>
          <p:nvSpPr>
            <p:cNvPr id="28" name="Resposta"/>
            <p:cNvSpPr/>
            <p:nvPr/>
          </p:nvSpPr>
          <p:spPr>
            <a:xfrm>
              <a:off x="7240219" y="1005840"/>
              <a:ext cx="4372661" cy="337628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77379" y="1060704"/>
              <a:ext cx="4098341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7379" y="1345840"/>
              <a:ext cx="4098341" cy="29762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5400" b="1">
                  <a:solidFill>
                    <a:srgbClr val="FFFFFF"/>
                  </a:solidFill>
                  <a:latin typeface="Calibri"/>
                </a:rPr>
                <a:t>d)  7,8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40219" y="4565000"/>
              <a:ext cx="4372661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77379" y="4610720"/>
              <a:ext cx="4098341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Dividir pelo número de critérios (3) em vez da soma dos pesos.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477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89 · Média aritmética</a:t>
            </a:r>
          </a:p>
        </p:txBody>
      </p:sp>
      <p:sp>
        <p:nvSpPr>
          <p:cNvPr id="3" name="Alt a"/>
          <p:cNvSpPr/>
          <p:nvPr/>
        </p:nvSpPr>
        <p:spPr>
          <a:xfrm>
            <a:off x="54864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0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12</a:t>
            </a:r>
          </a:p>
        </p:txBody>
      </p:sp>
      <p:sp>
        <p:nvSpPr>
          <p:cNvPr id="6" name="Alt b"/>
          <p:cNvSpPr/>
          <p:nvPr/>
        </p:nvSpPr>
        <p:spPr>
          <a:xfrm>
            <a:off x="278892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8036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08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15</a:t>
            </a:r>
          </a:p>
        </p:txBody>
      </p:sp>
      <p:sp>
        <p:nvSpPr>
          <p:cNvPr id="9" name="Alt c"/>
          <p:cNvSpPr/>
          <p:nvPr/>
        </p:nvSpPr>
        <p:spPr>
          <a:xfrm>
            <a:off x="502920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636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16</a:t>
            </a:r>
          </a:p>
        </p:txBody>
      </p:sp>
      <p:sp>
        <p:nvSpPr>
          <p:cNvPr id="12" name="Alt d"/>
          <p:cNvSpPr/>
          <p:nvPr/>
        </p:nvSpPr>
        <p:spPr>
          <a:xfrm>
            <a:off x="726948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6092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664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20</a:t>
            </a:r>
          </a:p>
        </p:txBody>
      </p:sp>
      <p:sp>
        <p:nvSpPr>
          <p:cNvPr id="15" name="Alt e"/>
          <p:cNvSpPr/>
          <p:nvPr/>
        </p:nvSpPr>
        <p:spPr>
          <a:xfrm>
            <a:off x="950976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692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21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005840"/>
            <a:ext cx="11064240" cy="396056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nunciado"/>
          <p:cNvSpPr txBox="1"/>
          <p:nvPr/>
        </p:nvSpPr>
        <p:spPr>
          <a:xfrm>
            <a:off x="731520" y="1143000"/>
            <a:ext cx="10698480" cy="3731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E3B41"/>
                </a:solidFill>
                <a:latin typeface="Calibri"/>
              </a:rPr>
              <a:t>Um clube selecionou quatro atletas, cuja média das idades é de 15 anos, para receberem treinamento especial visando a uma competição. Um novo jogador precisou integrar esse grupo, o que fez a média das idades aumentar em 1 ano.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2E3B41"/>
                </a:solidFill>
                <a:latin typeface="Calibri"/>
              </a:rPr>
              <a:t>Qual é a idade do atleta que passou a integrar esse grupo?</a:t>
            </a:r>
          </a:p>
        </p:txBody>
      </p:sp>
      <p:grpSp>
        <p:nvGrpSpPr>
          <p:cNvPr id="20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1" name="Rectangle 20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45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8640" y="1005840"/>
              <a:ext cx="6417259" cy="72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5800" y="1033272"/>
              <a:ext cx="6142939" cy="66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Como muda a soma das idades quando a média sobe 1 ano?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1908720"/>
              <a:ext cx="6417259" cy="38062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" y="1908720"/>
              <a:ext cx="6417259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5800" y="2384208"/>
              <a:ext cx="6142939" cy="328507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Soma inicial: 4 · 15 = 60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Nova soma: 5 · 16 = 80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Idade do novo atleta: 80 − 60 = </a:t>
              </a:r>
              <a:r>
                <a:rPr sz="2400" b="1">
                  <a:solidFill>
                    <a:srgbClr val="2E3B41"/>
                  </a:solidFill>
                  <a:latin typeface="Calibri"/>
                </a:rPr>
                <a:t>20</a:t>
              </a:r>
            </a:p>
          </p:txBody>
        </p:sp>
        <p:sp>
          <p:nvSpPr>
            <p:cNvPr id="28" name="Resposta"/>
            <p:cNvSpPr/>
            <p:nvPr/>
          </p:nvSpPr>
          <p:spPr>
            <a:xfrm>
              <a:off x="7240219" y="1005840"/>
              <a:ext cx="4372661" cy="337628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77379" y="1060704"/>
              <a:ext cx="4098341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7379" y="1345840"/>
              <a:ext cx="4098341" cy="29762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5400" b="1">
                  <a:solidFill>
                    <a:srgbClr val="FFFFFF"/>
                  </a:solidFill>
                  <a:latin typeface="Calibri"/>
                </a:rPr>
                <a:t>d)  20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40219" y="4565000"/>
              <a:ext cx="4372661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77379" y="4610720"/>
              <a:ext cx="4098341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Achar que o novo atleta tem 16 anos (a nova média).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188720"/>
            <a:ext cx="2100000" cy="411480"/>
          </a:xfrm>
          <a:prstGeom prst="roundRect">
            <a:avLst>
              <a:gd name="adj" fmla="val 50000"/>
            </a:avLst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9598"/>
                </a:solidFill>
                <a:latin typeface="Calibri"/>
              </a:rPr>
              <a:t>BLOCO 5 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0000"/>
            <a:ext cx="6400000" cy="140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2E3B41"/>
                </a:solidFill>
                <a:latin typeface="Calibri"/>
              </a:rPr>
              <a:t>Moda e mediana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000000"/>
            <a:ext cx="6000000" cy="100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6B70"/>
                </a:solidFill>
                <a:latin typeface="Calibri"/>
              </a:rPr>
              <a:t>Ordenar os dados antes da mediana · moda é o valor mais frequente.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188720"/>
            <a:ext cx="4023360" cy="224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0" y="1188720"/>
            <a:ext cx="4023360" cy="384048"/>
          </a:xfrm>
          <a:prstGeom prst="rect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Questões deste bloco</a:t>
            </a:r>
          </a:p>
        </p:txBody>
      </p:sp>
      <p:sp>
        <p:nvSpPr>
          <p:cNvPr id="7" name="Oval 6"/>
          <p:cNvSpPr/>
          <p:nvPr/>
        </p:nvSpPr>
        <p:spPr>
          <a:xfrm>
            <a:off x="7818120" y="173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9520" y="170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Moda e mediana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29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9520" y="226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Moda e mediana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5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9520" y="282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Moda e mediana</a:t>
            </a:r>
          </a:p>
        </p:txBody>
      </p:sp>
      <p:sp>
        <p:nvSpPr>
          <p:cNvPr id="13" name="Voltar ao roteiro">
            <a:hlinkClick action="ppaction://hlinksldjump" r:id="rId2"/>
          </p:cNvPr>
          <p:cNvSpPr/>
          <p:nvPr/>
        </p:nvSpPr>
        <p:spPr>
          <a:xfrm>
            <a:off x="685800" y="4850000"/>
            <a:ext cx="1900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9598"/>
                </a:solidFill>
                <a:latin typeface="Calibri"/>
              </a:rPr>
              <a:t>↩ Roteiro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447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76 · Moda e mediana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595544"/>
            <a:ext cx="11064240" cy="3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3635544"/>
            <a:ext cx="300000" cy="30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520" y="3595544"/>
            <a:ext cx="10489920" cy="38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E3B41"/>
                </a:solidFill>
                <a:latin typeface="Calibri"/>
              </a:rPr>
              <a:t>Sim, pois a moda é 5,0 e a mediana é 4,0.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30408"/>
            <a:ext cx="11064240" cy="3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4070408"/>
            <a:ext cx="300000" cy="30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520" y="4030408"/>
            <a:ext cx="10489920" cy="38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E3B41"/>
                </a:solidFill>
                <a:latin typeface="Calibri"/>
              </a:rPr>
              <a:t>Sim, pois a moda é 5,0 e a mediana é 4,5.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465272"/>
            <a:ext cx="11064240" cy="3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4505272"/>
            <a:ext cx="300000" cy="30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520" y="4465272"/>
            <a:ext cx="10489920" cy="38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E3B41"/>
                </a:solidFill>
                <a:latin typeface="Calibri"/>
              </a:rPr>
              <a:t>Não, pois a moda é igual a 4,0.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00136"/>
            <a:ext cx="11064240" cy="3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4940136"/>
            <a:ext cx="300000" cy="30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520" y="4900136"/>
            <a:ext cx="10489920" cy="38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E3B41"/>
                </a:solidFill>
                <a:latin typeface="Calibri"/>
              </a:rPr>
              <a:t>Não, pois a mediana é igual a 1,5.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335000"/>
            <a:ext cx="11064240" cy="3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375000"/>
            <a:ext cx="300000" cy="30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520" y="5335000"/>
            <a:ext cx="10489920" cy="38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E3B41"/>
                </a:solidFill>
                <a:latin typeface="Calibri"/>
              </a:rPr>
              <a:t>Não, pois a mediana é igual a 3,0.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005840"/>
            <a:ext cx="11064240" cy="2406824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nunciado"/>
          <p:cNvSpPr txBox="1"/>
          <p:nvPr/>
        </p:nvSpPr>
        <p:spPr>
          <a:xfrm>
            <a:off x="731520" y="1143000"/>
            <a:ext cx="10698480" cy="21782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Uma loja está analisando as avaliações que recebeu do lançamento de um produto. As notas variam de 1 a 5 estrelas e foram dadas pelos primeiros 10 compradores.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As notas registradas foram: 5, 2, 4, 5, 1, 5, 4, 3, 5 e 2.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O estabelecimento considera uma boa satisfação com o produto se a moda das avaliações for igual a 5 e a mediana for maior ou igual a 4.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De acordo com os critérios estabelecidos pela loja, esse lançamento teve uma boa satisfação?</a:t>
            </a:r>
          </a:p>
        </p:txBody>
      </p:sp>
      <p:grpSp>
        <p:nvGrpSpPr>
          <p:cNvPr id="20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1" name="Rectangle 20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15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8640" y="1005840"/>
              <a:ext cx="6417259" cy="72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5800" y="1033272"/>
              <a:ext cx="6142939" cy="66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Antes de achar a mediana, o que precisamos fazer com os dados?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1908720"/>
              <a:ext cx="6417259" cy="38062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" y="1908720"/>
              <a:ext cx="6417259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5800" y="2384208"/>
              <a:ext cx="6142939" cy="328507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1400"/>
                </a:spcAft>
              </a:pPr>
              <a:r>
                <a:rPr sz="23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2300" b="0">
                  <a:solidFill>
                    <a:srgbClr val="2E3B41"/>
                  </a:solidFill>
                  <a:latin typeface="Calibri"/>
                </a:rPr>
                <a:t> Em ordem: 1, 2, 2, 3, </a:t>
              </a:r>
              <a:r>
                <a:rPr sz="2300" b="1">
                  <a:solidFill>
                    <a:srgbClr val="2E3B41"/>
                  </a:solidFill>
                  <a:latin typeface="Calibri"/>
                </a:rPr>
                <a:t>4, 4</a:t>
              </a:r>
              <a:r>
                <a:rPr sz="2300" b="0">
                  <a:solidFill>
                    <a:srgbClr val="2E3B41"/>
                  </a:solidFill>
                  <a:latin typeface="Calibri"/>
                </a:rPr>
                <a:t>, 5, 5, 5, 5</a:t>
              </a:r>
            </a:p>
            <a:p>
              <a:pPr algn="l">
                <a:spcAft>
                  <a:spcPts val="1400"/>
                </a:spcAft>
              </a:pPr>
              <a:r>
                <a:rPr sz="23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2300" b="0">
                  <a:solidFill>
                    <a:srgbClr val="2E3B41"/>
                  </a:solidFill>
                  <a:latin typeface="Calibri"/>
                </a:rPr>
                <a:t> Moda = 5 (aparece 4 vezes)</a:t>
              </a:r>
            </a:p>
            <a:p>
              <a:pPr algn="l">
                <a:spcAft>
                  <a:spcPts val="1400"/>
                </a:spcAft>
              </a:pPr>
              <a:r>
                <a:rPr sz="23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2300" b="0">
                  <a:solidFill>
                    <a:srgbClr val="2E3B41"/>
                  </a:solidFill>
                  <a:latin typeface="Calibri"/>
                </a:rPr>
                <a:t> Mediana = (4 + 4) ÷ 2 = 4 (10 dados: média dos dois centrais)</a:t>
              </a:r>
            </a:p>
            <a:p>
              <a:pPr algn="l">
                <a:spcAft>
                  <a:spcPts val="1400"/>
                </a:spcAft>
              </a:pPr>
              <a:r>
                <a:rPr sz="2300" b="1">
                  <a:solidFill>
                    <a:srgbClr val="2E3B41"/>
                  </a:solidFill>
                  <a:latin typeface="Calibri"/>
                </a:rPr>
                <a:t>4.</a:t>
              </a:r>
              <a:r>
                <a:rPr sz="2300" b="0">
                  <a:solidFill>
                    <a:srgbClr val="2E3B41"/>
                  </a:solidFill>
                  <a:latin typeface="Calibri"/>
                </a:rPr>
                <a:t> Moda = 5 e mediana ≥ 4  ⇒  </a:t>
              </a:r>
              <a:r>
                <a:rPr sz="2300" b="1">
                  <a:solidFill>
                    <a:srgbClr val="2E3B41"/>
                  </a:solidFill>
                  <a:latin typeface="Calibri"/>
                </a:rPr>
                <a:t>boa satisfação</a:t>
              </a:r>
            </a:p>
          </p:txBody>
        </p:sp>
        <p:sp>
          <p:nvSpPr>
            <p:cNvPr id="28" name="Resposta"/>
            <p:cNvSpPr/>
            <p:nvPr/>
          </p:nvSpPr>
          <p:spPr>
            <a:xfrm>
              <a:off x="7240219" y="1005840"/>
              <a:ext cx="4372661" cy="337628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77379" y="1060704"/>
              <a:ext cx="4098341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7379" y="1345840"/>
              <a:ext cx="4098341" cy="29762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2600" b="1">
                  <a:solidFill>
                    <a:srgbClr val="FFFFFF"/>
                  </a:solidFill>
                  <a:latin typeface="Calibri"/>
                </a:rPr>
                <a:t>a)  Sim: moda 5,0 e mediana 4,0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40219" y="4565000"/>
              <a:ext cx="4372661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77379" y="4610720"/>
              <a:ext cx="4098341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Calcular a mediana sem colocar os dados em ordem.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447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80 · Moda e mediana</a:t>
            </a:r>
          </a:p>
        </p:txBody>
      </p:sp>
      <p:sp>
        <p:nvSpPr>
          <p:cNvPr id="3" name="Alt a"/>
          <p:cNvSpPr/>
          <p:nvPr/>
        </p:nvSpPr>
        <p:spPr>
          <a:xfrm>
            <a:off x="54864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0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90 e 120.</a:t>
            </a:r>
          </a:p>
        </p:txBody>
      </p:sp>
      <p:sp>
        <p:nvSpPr>
          <p:cNvPr id="6" name="Alt b"/>
          <p:cNvSpPr/>
          <p:nvPr/>
        </p:nvSpPr>
        <p:spPr>
          <a:xfrm>
            <a:off x="278892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8036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08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120 e 90.</a:t>
            </a:r>
          </a:p>
        </p:txBody>
      </p:sp>
      <p:sp>
        <p:nvSpPr>
          <p:cNvPr id="9" name="Alt c"/>
          <p:cNvSpPr/>
          <p:nvPr/>
        </p:nvSpPr>
        <p:spPr>
          <a:xfrm>
            <a:off x="502920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636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120 e 120.</a:t>
            </a:r>
          </a:p>
        </p:txBody>
      </p:sp>
      <p:sp>
        <p:nvSpPr>
          <p:cNvPr id="12" name="Alt d"/>
          <p:cNvSpPr/>
          <p:nvPr/>
        </p:nvSpPr>
        <p:spPr>
          <a:xfrm>
            <a:off x="726948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6092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664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120 e 141.</a:t>
            </a:r>
          </a:p>
        </p:txBody>
      </p:sp>
      <p:sp>
        <p:nvSpPr>
          <p:cNvPr id="15" name="Alt e"/>
          <p:cNvSpPr/>
          <p:nvPr/>
        </p:nvSpPr>
        <p:spPr>
          <a:xfrm>
            <a:off x="950976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692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210 e 120.</a:t>
            </a:r>
          </a:p>
        </p:txBody>
      </p:sp>
      <p:sp>
        <p:nvSpPr>
          <p:cNvPr id="18" name="Enunciado"/>
          <p:cNvSpPr txBox="1"/>
          <p:nvPr/>
        </p:nvSpPr>
        <p:spPr>
          <a:xfrm>
            <a:off x="548640" y="1005840"/>
            <a:ext cx="6195974" cy="4006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2E3B41"/>
                </a:solidFill>
                <a:latin typeface="Calibri"/>
              </a:rPr>
              <a:t>Um smartphone gera um relatório semanal sobre o tempo de uso diário do aparelho. Pedro resolveu analisar seus dados de uma semana específica em que ele tentou reduzir o uso do celular.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2E3B41"/>
                </a:solidFill>
                <a:latin typeface="Calibri"/>
              </a:rPr>
              <a:t>Os tempos registrados de segunda a domingo, em minuto por dia, foram os do quadro ao lado.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2E3B41"/>
                </a:solidFill>
                <a:latin typeface="Calibri"/>
              </a:rPr>
              <a:t>Quais são a moda e a mediana, respectivamente, do conjunto de dados apresentados no quadro?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973214" y="1005840"/>
          <a:ext cx="4639666" cy="320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19833"/>
                <a:gridCol w="2319833"/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Dia da semana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Tempo de uso (min)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Segunda-feira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Terça-feira</a:t>
                      </a:r>
                    </a:p>
                  </a:txBody>
                  <a:tcPr marL="45720" marR="45720" marT="18288" marB="18288" anchor="ctr">
                    <a:solidFill>
                      <a:srgbClr val="E2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L="45720" marR="45720" marT="18288" marB="18288" anchor="ctr">
                    <a:solidFill>
                      <a:srgbClr val="E2F3F3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Quarta-feira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Quinta-feira</a:t>
                      </a:r>
                    </a:p>
                  </a:txBody>
                  <a:tcPr marL="45720" marR="45720" marT="18288" marB="18288" anchor="ctr">
                    <a:solidFill>
                      <a:srgbClr val="E2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45720" marR="45720" marT="18288" marB="18288" anchor="ctr">
                    <a:solidFill>
                      <a:srgbClr val="E2F3F3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Sexta-feira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Sábado</a:t>
                      </a:r>
                    </a:p>
                  </a:txBody>
                  <a:tcPr marL="45720" marR="45720" marT="18288" marB="18288" anchor="ctr">
                    <a:solidFill>
                      <a:srgbClr val="E2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210</a:t>
                      </a:r>
                    </a:p>
                  </a:txBody>
                  <a:tcPr marL="45720" marR="45720" marT="18288" marB="18288" anchor="ctr">
                    <a:solidFill>
                      <a:srgbClr val="E2F3F3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Domingo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E3B41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0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1" name="Rectangle 20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15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8640" y="1005840"/>
              <a:ext cx="6417259" cy="72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5800" y="1033272"/>
              <a:ext cx="6142939" cy="66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Com 7 dados, qual posição ocupa a mediana?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1908720"/>
              <a:ext cx="6417259" cy="38062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" y="1908720"/>
              <a:ext cx="6417259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5800" y="2384208"/>
              <a:ext cx="6142939" cy="328507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Em ordem: 90, 120, 120, </a:t>
              </a:r>
              <a:r>
                <a:rPr sz="2400" b="1">
                  <a:solidFill>
                    <a:srgbClr val="2E3B41"/>
                  </a:solidFill>
                  <a:latin typeface="Calibri"/>
                </a:rPr>
                <a:t>120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, 150, 180, 210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Moda = 120 (aparece 3 vezes)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Mediana = 4º termo = 120</a:t>
              </a:r>
            </a:p>
          </p:txBody>
        </p:sp>
        <p:sp>
          <p:nvSpPr>
            <p:cNvPr id="28" name="Resposta"/>
            <p:cNvSpPr/>
            <p:nvPr/>
          </p:nvSpPr>
          <p:spPr>
            <a:xfrm>
              <a:off x="7240219" y="1005840"/>
              <a:ext cx="4372661" cy="337628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77379" y="1060704"/>
              <a:ext cx="4098341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7379" y="1345840"/>
              <a:ext cx="4098341" cy="29762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4000" b="1">
                  <a:solidFill>
                    <a:srgbClr val="FFFFFF"/>
                  </a:solidFill>
                  <a:latin typeface="Calibri"/>
                </a:rPr>
                <a:t>c)  120 e 120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40219" y="4565000"/>
              <a:ext cx="4372661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77379" y="4610720"/>
              <a:ext cx="4098341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Pegar o valor do meio da tabela (quinta-feira = 90) sem ordenar.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447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86 · Moda e mediana</a:t>
            </a:r>
          </a:p>
        </p:txBody>
      </p:sp>
      <p:sp>
        <p:nvSpPr>
          <p:cNvPr id="3" name="Alt a"/>
          <p:cNvSpPr/>
          <p:nvPr/>
        </p:nvSpPr>
        <p:spPr>
          <a:xfrm>
            <a:off x="54864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0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2</a:t>
            </a:r>
          </a:p>
        </p:txBody>
      </p:sp>
      <p:sp>
        <p:nvSpPr>
          <p:cNvPr id="6" name="Alt b"/>
          <p:cNvSpPr/>
          <p:nvPr/>
        </p:nvSpPr>
        <p:spPr>
          <a:xfrm>
            <a:off x="278892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8036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08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4</a:t>
            </a:r>
          </a:p>
        </p:txBody>
      </p:sp>
      <p:sp>
        <p:nvSpPr>
          <p:cNvPr id="9" name="Alt c"/>
          <p:cNvSpPr/>
          <p:nvPr/>
        </p:nvSpPr>
        <p:spPr>
          <a:xfrm>
            <a:off x="502920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636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5</a:t>
            </a:r>
          </a:p>
        </p:txBody>
      </p:sp>
      <p:sp>
        <p:nvSpPr>
          <p:cNvPr id="12" name="Alt d"/>
          <p:cNvSpPr/>
          <p:nvPr/>
        </p:nvSpPr>
        <p:spPr>
          <a:xfrm>
            <a:off x="726948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6092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664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6</a:t>
            </a:r>
          </a:p>
        </p:txBody>
      </p:sp>
      <p:sp>
        <p:nvSpPr>
          <p:cNvPr id="15" name="Alt e"/>
          <p:cNvSpPr/>
          <p:nvPr/>
        </p:nvSpPr>
        <p:spPr>
          <a:xfrm>
            <a:off x="950976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692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005840"/>
            <a:ext cx="11064240" cy="80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E3B41"/>
                </a:solidFill>
                <a:latin typeface="Calibri"/>
              </a:rPr>
              <a:t>O quadro a seguir apresenta o total de vendas que uma loja realizou, por dia, de uma calça de uma determinada marca, durante os primeiros 15 dias de um mês.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1865840"/>
          <a:ext cx="11064240" cy="92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00000"/>
                <a:gridCol w="657616"/>
                <a:gridCol w="657616"/>
                <a:gridCol w="657616"/>
                <a:gridCol w="657616"/>
                <a:gridCol w="657616"/>
                <a:gridCol w="657616"/>
                <a:gridCol w="657616"/>
                <a:gridCol w="657616"/>
                <a:gridCol w="657616"/>
                <a:gridCol w="657616"/>
                <a:gridCol w="657616"/>
                <a:gridCol w="657616"/>
                <a:gridCol w="657616"/>
                <a:gridCol w="657616"/>
                <a:gridCol w="657616"/>
              </a:tblGrid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Vendas</a:t>
                      </a:r>
                    </a:p>
                  </a:txBody>
                  <a:tcPr marL="45720" marR="45720" marT="18288" marB="18288" anchor="ctr">
                    <a:solidFill>
                      <a:srgbClr val="0195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E3B4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E3B4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E3B4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E3B4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E3B4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E3B41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E3B41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E3B4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E3B41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E3B4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E3B4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E3B4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E3B4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1">
                          <a:solidFill>
                            <a:srgbClr val="2E3B41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E3B41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48640" y="3014440"/>
            <a:ext cx="11064240" cy="1997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E3B41"/>
                </a:solidFill>
                <a:latin typeface="Calibri"/>
              </a:rPr>
              <a:t>Sabe-se que, no 14º dia, o total de vendas dessas calças superou duas unidades e é exatamente igual ao valor da moda e da mediana de todos os 15 registros.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E3B41"/>
                </a:solidFill>
                <a:latin typeface="Calibri"/>
              </a:rPr>
              <a:t>Quantas calças dessa marca foram vendidas no 14º dia?</a:t>
            </a:r>
          </a:p>
        </p:txBody>
      </p:sp>
      <p:grpSp>
        <p:nvGrpSpPr>
          <p:cNvPr id="21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2" name="Rectangle 21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515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48640" y="1005840"/>
              <a:ext cx="6417259" cy="72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85800" y="1033272"/>
              <a:ext cx="6142939" cy="66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Que valor de x faz a moda e a mediana serem iguais a x?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" y="1908720"/>
              <a:ext cx="6417259" cy="38062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48640" y="1908720"/>
              <a:ext cx="6417259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5800" y="2384208"/>
              <a:ext cx="6142939" cy="328507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Sem o 14º dia: o 2 aparece 3 vezes e o 4 aparece 4 vezes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x = 4  ⇒  o 4 vira a moda (5 vezes)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8º dado em ordem = 4 = mediana ✓</a:t>
              </a:r>
            </a:p>
          </p:txBody>
        </p:sp>
        <p:sp>
          <p:nvSpPr>
            <p:cNvPr id="29" name="Resposta"/>
            <p:cNvSpPr/>
            <p:nvPr/>
          </p:nvSpPr>
          <p:spPr>
            <a:xfrm>
              <a:off x="7240219" y="1005840"/>
              <a:ext cx="4372661" cy="337628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7379" y="1060704"/>
              <a:ext cx="4098341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377379" y="1345840"/>
              <a:ext cx="4098341" cy="29762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5400" b="1">
                  <a:solidFill>
                    <a:srgbClr val="FFFFFF"/>
                  </a:solidFill>
                  <a:latin typeface="Calibri"/>
                </a:rPr>
                <a:t>b)  4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7240219" y="4565000"/>
              <a:ext cx="4372661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377379" y="4610720"/>
              <a:ext cx="4098341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Escolher x = 2: o enunciado diz que as vendas superaram duas unidades.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188720"/>
            <a:ext cx="2100000" cy="411480"/>
          </a:xfrm>
          <a:prstGeom prst="roundRect">
            <a:avLst>
              <a:gd name="adj" fmla="val 50000"/>
            </a:avLst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9598"/>
                </a:solidFill>
                <a:latin typeface="Calibri"/>
              </a:rPr>
              <a:t>BLOCO 6 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0000"/>
            <a:ext cx="6400000" cy="140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2E3B41"/>
                </a:solidFill>
                <a:latin typeface="Calibri"/>
              </a:rPr>
              <a:t>Geometria e transformações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700000"/>
            <a:ext cx="6000000" cy="100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6B70"/>
                </a:solidFill>
                <a:latin typeface="Calibri"/>
              </a:rPr>
              <a:t>Rotação de 90° · reflexão no eixo y troca o sinal do x.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188720"/>
            <a:ext cx="4023360" cy="224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0" y="1188720"/>
            <a:ext cx="4023360" cy="384048"/>
          </a:xfrm>
          <a:prstGeom prst="rect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Questões deste bloco</a:t>
            </a:r>
          </a:p>
        </p:txBody>
      </p:sp>
      <p:sp>
        <p:nvSpPr>
          <p:cNvPr id="7" name="Oval 6"/>
          <p:cNvSpPr/>
          <p:nvPr/>
        </p:nvSpPr>
        <p:spPr>
          <a:xfrm>
            <a:off x="7818120" y="173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9520" y="170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Ângulos internos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29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9520" y="226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Rotações de 90°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59928"/>
            <a:ext cx="440000" cy="44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9520" y="2829928"/>
            <a:ext cx="3123360" cy="50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Simetria no plano</a:t>
            </a:r>
          </a:p>
        </p:txBody>
      </p:sp>
      <p:sp>
        <p:nvSpPr>
          <p:cNvPr id="13" name="Voltar ao roteiro">
            <a:hlinkClick action="ppaction://hlinksldjump" r:id="rId2"/>
          </p:cNvPr>
          <p:cNvSpPr/>
          <p:nvPr/>
        </p:nvSpPr>
        <p:spPr>
          <a:xfrm>
            <a:off x="685800" y="4850000"/>
            <a:ext cx="1900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9598"/>
                </a:solidFill>
                <a:latin typeface="Calibri"/>
              </a:rPr>
              <a:t>↩ Roteiro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477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73 · Ângulos internos</a:t>
            </a:r>
          </a:p>
        </p:txBody>
      </p:sp>
      <p:sp>
        <p:nvSpPr>
          <p:cNvPr id="3" name="Alt a"/>
          <p:cNvSpPr/>
          <p:nvPr/>
        </p:nvSpPr>
        <p:spPr>
          <a:xfrm>
            <a:off x="54864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0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45</a:t>
            </a:r>
          </a:p>
        </p:txBody>
      </p:sp>
      <p:sp>
        <p:nvSpPr>
          <p:cNvPr id="6" name="Alt b"/>
          <p:cNvSpPr/>
          <p:nvPr/>
        </p:nvSpPr>
        <p:spPr>
          <a:xfrm>
            <a:off x="278892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8036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08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60</a:t>
            </a:r>
          </a:p>
        </p:txBody>
      </p:sp>
      <p:sp>
        <p:nvSpPr>
          <p:cNvPr id="9" name="Alt c"/>
          <p:cNvSpPr/>
          <p:nvPr/>
        </p:nvSpPr>
        <p:spPr>
          <a:xfrm>
            <a:off x="502920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636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90</a:t>
            </a:r>
          </a:p>
        </p:txBody>
      </p:sp>
      <p:sp>
        <p:nvSpPr>
          <p:cNvPr id="12" name="Alt d"/>
          <p:cNvSpPr/>
          <p:nvPr/>
        </p:nvSpPr>
        <p:spPr>
          <a:xfrm>
            <a:off x="726948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6092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664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135</a:t>
            </a:r>
          </a:p>
        </p:txBody>
      </p:sp>
      <p:sp>
        <p:nvSpPr>
          <p:cNvPr id="15" name="Alt e"/>
          <p:cNvSpPr/>
          <p:nvPr/>
        </p:nvSpPr>
        <p:spPr>
          <a:xfrm>
            <a:off x="950976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692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225</a:t>
            </a:r>
          </a:p>
        </p:txBody>
      </p:sp>
      <p:sp>
        <p:nvSpPr>
          <p:cNvPr id="18" name="Enunciado"/>
          <p:cNvSpPr txBox="1"/>
          <p:nvPr/>
        </p:nvSpPr>
        <p:spPr>
          <a:xfrm>
            <a:off x="548640" y="1005840"/>
            <a:ext cx="6195974" cy="4006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E3B41"/>
                </a:solidFill>
                <a:latin typeface="Calibri"/>
              </a:rPr>
              <a:t>O calçamento mais conhecido de São Paulo é de autoria da arquiteta Mirthes dos Santos Pinto, que criou um mapa estilizado do Estado de São Paulo, em formato octogonal, a exemplo das ondas de Copacabana.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E3B41"/>
                </a:solidFill>
                <a:latin typeface="Calibri"/>
              </a:rPr>
              <a:t>O octógono que compõe esse ladrilhamento pode ser decomposto em quadrados e triângulos retângulos, como observado na malha quadriculada ao lado.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E3B41"/>
                </a:solidFill>
                <a:latin typeface="Calibri"/>
              </a:rPr>
              <a:t>Qual é a medida, em grau, do maior ângulo interno desse polígono?</a:t>
            </a:r>
          </a:p>
        </p:txBody>
      </p:sp>
      <p:pic>
        <p:nvPicPr>
          <p:cNvPr id="19" name="Picture 18" descr="q73_f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074" y="1005840"/>
            <a:ext cx="3341946" cy="180359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73214" y="2855150"/>
            <a:ext cx="4639666" cy="26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F6B70"/>
                </a:solidFill>
                <a:latin typeface="Calibri"/>
              </a:rPr>
              <a:t>Disponível em: https://saopaulosecreto.com. Acesso em: 31 jan. 2026. (Adaptado)</a:t>
            </a:r>
          </a:p>
        </p:txBody>
      </p:sp>
      <p:pic>
        <p:nvPicPr>
          <p:cNvPr id="21" name="Picture 20" descr="q73_mal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074" y="3160870"/>
            <a:ext cx="3341946" cy="1759809"/>
          </a:xfrm>
          <a:prstGeom prst="rect">
            <a:avLst/>
          </a:prstGeom>
        </p:spPr>
      </p:pic>
      <p:grpSp>
        <p:nvGrpSpPr>
          <p:cNvPr id="22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3" name="Rectangle 22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45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1005840"/>
              <a:ext cx="6417259" cy="72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85800" y="1033272"/>
              <a:ext cx="6142939" cy="66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Quais vértices apontam “para dentro”? Quanto mede o ângulo interno nesses pontos?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48640" y="1908720"/>
              <a:ext cx="6417259" cy="38062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48640" y="1908720"/>
              <a:ext cx="6417259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85800" y="2384208"/>
              <a:ext cx="6142939" cy="328507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1400"/>
                </a:spcAft>
              </a:pPr>
              <a:r>
                <a:rPr sz="19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1900" b="0">
                  <a:solidFill>
                    <a:srgbClr val="2E3B41"/>
                  </a:solidFill>
                  <a:latin typeface="Calibri"/>
                </a:rPr>
                <a:t> Lados inclinados são diagonais de quadradinhos: formam 45° com a malha</a:t>
              </a:r>
            </a:p>
            <a:p>
              <a:pPr algn="l">
                <a:spcAft>
                  <a:spcPts val="1400"/>
                </a:spcAft>
              </a:pPr>
              <a:r>
                <a:rPr sz="19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1900" b="0">
                  <a:solidFill>
                    <a:srgbClr val="2E3B41"/>
                  </a:solidFill>
                  <a:latin typeface="Calibri"/>
                </a:rPr>
                <a:t> Pontas: 45°  ·  bordas de cima e de baixo: 90° + 45° = 135°</a:t>
              </a:r>
            </a:p>
            <a:p>
              <a:pPr algn="l">
                <a:spcAft>
                  <a:spcPts val="1400"/>
                </a:spcAft>
              </a:pPr>
              <a:r>
                <a:rPr sz="19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1900" b="0">
                  <a:solidFill>
                    <a:srgbClr val="2E3B41"/>
                  </a:solidFill>
                  <a:latin typeface="Calibri"/>
                </a:rPr>
                <a:t> Vértices côncavos: a região externa mede 135°, então o interno mede 360° − 135° = </a:t>
              </a:r>
              <a:r>
                <a:rPr sz="1900" b="1">
                  <a:solidFill>
                    <a:srgbClr val="2E3B41"/>
                  </a:solidFill>
                  <a:latin typeface="Calibri"/>
                </a:rPr>
                <a:t>225°</a:t>
              </a:r>
            </a:p>
            <a:p>
              <a:pPr algn="l">
                <a:spcAft>
                  <a:spcPts val="1400"/>
                </a:spcAft>
              </a:pPr>
              <a:r>
                <a:rPr sz="1900" b="1">
                  <a:solidFill>
                    <a:srgbClr val="2E3B41"/>
                  </a:solidFill>
                  <a:latin typeface="Calibri"/>
                </a:rPr>
                <a:t>4.</a:t>
              </a:r>
              <a:r>
                <a:rPr sz="1900" b="0">
                  <a:solidFill>
                    <a:srgbClr val="2E3B41"/>
                  </a:solidFill>
                  <a:latin typeface="Calibri"/>
                </a:rPr>
                <a:t> Conferência: 2·45° + 4·135° + 2·225° = 1080° = (8 − 2)·180°</a:t>
              </a:r>
            </a:p>
          </p:txBody>
        </p:sp>
        <p:sp>
          <p:nvSpPr>
            <p:cNvPr id="30" name="Resposta"/>
            <p:cNvSpPr/>
            <p:nvPr/>
          </p:nvSpPr>
          <p:spPr>
            <a:xfrm>
              <a:off x="7240219" y="1005840"/>
              <a:ext cx="4372661" cy="110000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377379" y="1060704"/>
              <a:ext cx="4098341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77379" y="1345840"/>
              <a:ext cx="4098341" cy="70000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3000" b="1">
                  <a:solidFill>
                    <a:srgbClr val="FFFFFF"/>
                  </a:solidFill>
                  <a:latin typeface="Calibri"/>
                </a:rPr>
                <a:t>e)  225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240219" y="4565000"/>
              <a:ext cx="4372661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377379" y="4610720"/>
              <a:ext cx="4098341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Esquecer que o octógono é côncavo e marcar 135°.</a:t>
              </a:r>
            </a:p>
          </p:txBody>
        </p:sp>
        <p:pic>
          <p:nvPicPr>
            <p:cNvPr id="35" name="Picture 34" descr="r7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63221" y="2288720"/>
              <a:ext cx="3526657" cy="213912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462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78 · Rotações de 90°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075000"/>
            <a:ext cx="2103120" cy="64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" y="5148152"/>
            <a:ext cx="330000" cy="33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pic>
        <p:nvPicPr>
          <p:cNvPr id="5" name="Picture 4" descr="q78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080" y="5166440"/>
            <a:ext cx="1590240" cy="4419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88920" y="5075000"/>
            <a:ext cx="2103120" cy="64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62072" y="5148152"/>
            <a:ext cx="330000" cy="33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pic>
        <p:nvPicPr>
          <p:cNvPr id="8" name="Picture 7" descr="q78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360" y="5166440"/>
            <a:ext cx="1590240" cy="4419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0" y="5075000"/>
            <a:ext cx="2103120" cy="64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02352" y="5148152"/>
            <a:ext cx="330000" cy="33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pic>
        <p:nvPicPr>
          <p:cNvPr id="11" name="Picture 10" descr="q78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640" y="5166440"/>
            <a:ext cx="1590240" cy="44192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269480" y="5075000"/>
            <a:ext cx="2103120" cy="64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42632" y="5148152"/>
            <a:ext cx="330000" cy="33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pic>
        <p:nvPicPr>
          <p:cNvPr id="14" name="Picture 13" descr="q78_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920" y="5166440"/>
            <a:ext cx="1590240" cy="44192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509760" y="5075000"/>
            <a:ext cx="2103120" cy="64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82912" y="5148152"/>
            <a:ext cx="330000" cy="33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pic>
        <p:nvPicPr>
          <p:cNvPr id="17" name="Picture 16" descr="q78_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1200" y="5166440"/>
            <a:ext cx="1590240" cy="441926"/>
          </a:xfrm>
          <a:prstGeom prst="rect">
            <a:avLst/>
          </a:prstGeom>
        </p:spPr>
      </p:pic>
      <p:sp>
        <p:nvSpPr>
          <p:cNvPr id="18" name="Enunciado"/>
          <p:cNvSpPr txBox="1"/>
          <p:nvPr/>
        </p:nvSpPr>
        <p:spPr>
          <a:xfrm>
            <a:off x="548640" y="1005840"/>
            <a:ext cx="7302398" cy="393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E3B41"/>
                </a:solidFill>
                <a:latin typeface="Calibri"/>
              </a:rPr>
              <a:t>Nos exames de vista, é comum o uso da tabela de Snellen adaptada com a letra E. Todos os símbolos são a mesma letra maiúscula, mas rotacionados em ângulos de 90°.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E3B41"/>
                </a:solidFill>
                <a:latin typeface="Calibri"/>
              </a:rPr>
              <a:t>Em um consultório, há uma tabela com as 3 linhas mostradas e uma quarta adicional, criada seguindo as regras:</a:t>
            </a:r>
          </a:p>
          <a:p>
            <a:pPr algn="l" marL="285750" indent="-228600">
              <a:spcAft>
                <a:spcPts val="600"/>
              </a:spcAft>
              <a:buFont typeface="Arial"/>
              <a:buChar char="•"/>
            </a:pPr>
            <a:r>
              <a:rPr sz="1700" b="1">
                <a:solidFill>
                  <a:srgbClr val="2E3B41"/>
                </a:solidFill>
                <a:latin typeface="Calibri"/>
              </a:rPr>
              <a:t>1º elemento da linha 4:</a:t>
            </a:r>
            <a:r>
              <a:rPr sz="1700" b="0">
                <a:solidFill>
                  <a:srgbClr val="2E3B41"/>
                </a:solidFill>
                <a:latin typeface="Calibri"/>
              </a:rPr>
              <a:t> pegar o primeiro símbolo (à esquerda) da linha 3 e girá-lo 90° no sentido anti-horário.</a:t>
            </a:r>
          </a:p>
          <a:p>
            <a:pPr algn="l" marL="285750" indent="-228600">
              <a:spcAft>
                <a:spcPts val="600"/>
              </a:spcAft>
              <a:buFont typeface="Arial"/>
              <a:buChar char="•"/>
            </a:pPr>
            <a:r>
              <a:rPr sz="1700" b="1">
                <a:solidFill>
                  <a:srgbClr val="2E3B41"/>
                </a:solidFill>
                <a:latin typeface="Calibri"/>
              </a:rPr>
              <a:t>Outros 3 elementos:</a:t>
            </a:r>
            <a:r>
              <a:rPr sz="1700" b="0">
                <a:solidFill>
                  <a:srgbClr val="2E3B41"/>
                </a:solidFill>
                <a:latin typeface="Calibri"/>
              </a:rPr>
              <a:t> rotações sucessivas de 90° no sentido anti-horário a partir do elemento anterior, da esquerda para a direita.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E3B41"/>
                </a:solidFill>
                <a:latin typeface="Calibri"/>
              </a:rPr>
              <a:t>Qual sequência de símbolos representa corretamente a quarta linha dessa tabela?</a:t>
            </a:r>
          </a:p>
        </p:txBody>
      </p:sp>
      <p:pic>
        <p:nvPicPr>
          <p:cNvPr id="19" name="Picture 18" descr="q78_tabe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6943" y="1005840"/>
            <a:ext cx="3238632" cy="3580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079638" y="4632120"/>
            <a:ext cx="3533242" cy="26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F6B70"/>
                </a:solidFill>
                <a:latin typeface="Calibri"/>
              </a:rPr>
              <a:t>Disponível em: https://www.allaboutvision.com. Acesso em: 30 jan. 2026. (Adaptado)</a:t>
            </a:r>
          </a:p>
        </p:txBody>
      </p:sp>
      <p:grpSp>
        <p:nvGrpSpPr>
          <p:cNvPr id="21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2" name="Rectangle 21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530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48640" y="1005840"/>
              <a:ext cx="6859828" cy="64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85800" y="1033272"/>
              <a:ext cx="6585508" cy="58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6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600" b="0">
                  <a:solidFill>
                    <a:srgbClr val="2E3B41"/>
                  </a:solidFill>
                  <a:latin typeface="Calibri"/>
                </a:rPr>
                <a:t> Ao girar 90° no sentido anti-horário, para onde vão as “pernas” do E?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" y="1783000"/>
              <a:ext cx="6859828" cy="150000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48640" y="1783000"/>
              <a:ext cx="6859828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5800" y="2212768"/>
              <a:ext cx="6585508" cy="102451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1º símbolo da linha 3: pernas para a esquerda</a:t>
              </a:r>
            </a:p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Cada giro anti-horário: esquerda → baixo → direita → cima</a:t>
              </a:r>
            </a:p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Linha 4: </a:t>
              </a:r>
              <a:r>
                <a:rPr sz="1700" b="1">
                  <a:solidFill>
                    <a:srgbClr val="2E3B41"/>
                  </a:solidFill>
                  <a:latin typeface="Calibri"/>
                </a:rPr>
                <a:t>baixo, direita, cima, esquerda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48640" y="3420160"/>
              <a:ext cx="6859828" cy="229484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48640" y="3420160"/>
              <a:ext cx="6859828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Girando 90° no sentido anti-horário ⟲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85800" y="3831640"/>
              <a:ext cx="1300000" cy="26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5F6B70"/>
                  </a:solidFill>
                  <a:latin typeface="Calibri"/>
                </a:rPr>
                <a:t>1º da linha 3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85800" y="4109928"/>
              <a:ext cx="1000000" cy="1559352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 rot="10800000">
              <a:off x="885800" y="4589604"/>
              <a:ext cx="600000" cy="600000"/>
            </a:xfrm>
            <a:custGeom>
              <a:avLst/>
              <a:gdLst/>
              <a:ahLst/>
              <a:cxnLst/>
              <a:rect l="l" t="t" r="r" b="b"/>
              <a:pathLst>
                <a:path w="600000" h="600000">
                  <a:moveTo>
                    <a:pt x="0" y="0"/>
                  </a:moveTo>
                  <a:lnTo>
                    <a:pt x="600000" y="0"/>
                  </a:lnTo>
                  <a:lnTo>
                    <a:pt x="600000" y="120000"/>
                  </a:lnTo>
                  <a:lnTo>
                    <a:pt x="120000" y="120000"/>
                  </a:lnTo>
                  <a:lnTo>
                    <a:pt x="120000" y="240000"/>
                  </a:lnTo>
                  <a:lnTo>
                    <a:pt x="600000" y="240000"/>
                  </a:lnTo>
                  <a:lnTo>
                    <a:pt x="600000" y="360000"/>
                  </a:lnTo>
                  <a:lnTo>
                    <a:pt x="120000" y="360000"/>
                  </a:lnTo>
                  <a:lnTo>
                    <a:pt x="120000" y="480000"/>
                  </a:lnTo>
                  <a:lnTo>
                    <a:pt x="600000" y="480000"/>
                  </a:lnTo>
                  <a:lnTo>
                    <a:pt x="600000" y="600000"/>
                  </a:lnTo>
                  <a:lnTo>
                    <a:pt x="0" y="600000"/>
                  </a:lnTo>
                  <a:close/>
                </a:path>
              </a:pathLst>
            </a:custGeom>
            <a:solidFill>
              <a:srgbClr val="5F6B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725800" y="4109928"/>
              <a:ext cx="380000" cy="1559352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sz="2600" b="0">
                  <a:solidFill>
                    <a:srgbClr val="019598"/>
                  </a:solidFill>
                  <a:latin typeface="Calibri"/>
                </a:rPr>
                <a:t>➜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145800" y="3831640"/>
              <a:ext cx="1212797" cy="26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sz="1200" b="1">
                  <a:solidFill>
                    <a:srgbClr val="5F6B70"/>
                  </a:solidFill>
                  <a:latin typeface="Calibri"/>
                </a:rPr>
                <a:t>1º da linha 4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145800" y="4109928"/>
              <a:ext cx="1212797" cy="155935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450037" y="3831640"/>
              <a:ext cx="1212797" cy="26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sz="1200" b="1">
                  <a:solidFill>
                    <a:srgbClr val="5F6B70"/>
                  </a:solidFill>
                  <a:latin typeface="Calibri"/>
                </a:rPr>
                <a:t>2º da linha 4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450037" y="4109928"/>
              <a:ext cx="1212797" cy="155935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754274" y="3831640"/>
              <a:ext cx="1212797" cy="26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sz="1200" b="1">
                  <a:solidFill>
                    <a:srgbClr val="5F6B70"/>
                  </a:solidFill>
                  <a:latin typeface="Calibri"/>
                </a:rPr>
                <a:t>3º da linha 4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754274" y="4109928"/>
              <a:ext cx="1212797" cy="155935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058511" y="3831640"/>
              <a:ext cx="1212797" cy="26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sz="1200" b="1">
                  <a:solidFill>
                    <a:srgbClr val="5F6B70"/>
                  </a:solidFill>
                  <a:latin typeface="Calibri"/>
                </a:rPr>
                <a:t>4º da linha 4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058511" y="4109928"/>
              <a:ext cx="1212797" cy="155935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" name="Resposta Q78"/>
          <p:cNvGrpSpPr/>
          <p:nvPr/>
        </p:nvGrpSpPr>
        <p:grpSpPr>
          <a:xfrm>
            <a:off x="7682788" y="1005840"/>
            <a:ext cx="3930092" cy="4709160"/>
            <a:chOff x="7682788" y="1005840"/>
            <a:chExt cx="3930092" cy="4709160"/>
          </a:xfrm>
        </p:grpSpPr>
        <p:sp>
          <p:nvSpPr>
            <p:cNvPr id="44" name="Rectangle 43"/>
            <p:cNvSpPr/>
            <p:nvPr/>
          </p:nvSpPr>
          <p:spPr>
            <a:xfrm>
              <a:off x="7682788" y="1005840"/>
              <a:ext cx="3930092" cy="337628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819948" y="1060704"/>
              <a:ext cx="3655772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819948" y="1345840"/>
              <a:ext cx="3655772" cy="7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4800" b="1">
                  <a:solidFill>
                    <a:srgbClr val="FFFFFF"/>
                  </a:solidFill>
                  <a:latin typeface="Calibri"/>
                </a:rPr>
                <a:t>d)</a:t>
              </a:r>
            </a:p>
          </p:txBody>
        </p:sp>
        <p:sp>
          <p:nvSpPr>
            <p:cNvPr id="47" name="Freeform 46"/>
            <p:cNvSpPr/>
            <p:nvPr/>
          </p:nvSpPr>
          <p:spPr>
            <a:xfrm rot="5400000">
              <a:off x="7909948" y="3522120"/>
              <a:ext cx="420000" cy="420000"/>
            </a:xfrm>
            <a:custGeom>
              <a:avLst/>
              <a:gdLst/>
              <a:ahLst/>
              <a:cxnLst/>
              <a:rect l="l" t="t" r="r" b="b"/>
              <a:pathLst>
                <a:path w="420000" h="420000">
                  <a:moveTo>
                    <a:pt x="0" y="0"/>
                  </a:moveTo>
                  <a:lnTo>
                    <a:pt x="420000" y="0"/>
                  </a:lnTo>
                  <a:lnTo>
                    <a:pt x="420000" y="84000"/>
                  </a:lnTo>
                  <a:lnTo>
                    <a:pt x="84000" y="84000"/>
                  </a:lnTo>
                  <a:lnTo>
                    <a:pt x="84000" y="168000"/>
                  </a:lnTo>
                  <a:lnTo>
                    <a:pt x="420000" y="168000"/>
                  </a:lnTo>
                  <a:lnTo>
                    <a:pt x="420000" y="252000"/>
                  </a:lnTo>
                  <a:lnTo>
                    <a:pt x="84000" y="252000"/>
                  </a:lnTo>
                  <a:lnTo>
                    <a:pt x="84000" y="336000"/>
                  </a:lnTo>
                  <a:lnTo>
                    <a:pt x="420000" y="336000"/>
                  </a:lnTo>
                  <a:lnTo>
                    <a:pt x="420000" y="420000"/>
                  </a:lnTo>
                  <a:lnTo>
                    <a:pt x="0" y="420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8928538" y="3522120"/>
              <a:ext cx="420000" cy="420000"/>
            </a:xfrm>
            <a:custGeom>
              <a:avLst/>
              <a:gdLst/>
              <a:ahLst/>
              <a:cxnLst/>
              <a:rect l="l" t="t" r="r" b="b"/>
              <a:pathLst>
                <a:path w="420000" h="420000">
                  <a:moveTo>
                    <a:pt x="0" y="0"/>
                  </a:moveTo>
                  <a:lnTo>
                    <a:pt x="420000" y="0"/>
                  </a:lnTo>
                  <a:lnTo>
                    <a:pt x="420000" y="84000"/>
                  </a:lnTo>
                  <a:lnTo>
                    <a:pt x="84000" y="84000"/>
                  </a:lnTo>
                  <a:lnTo>
                    <a:pt x="84000" y="168000"/>
                  </a:lnTo>
                  <a:lnTo>
                    <a:pt x="420000" y="168000"/>
                  </a:lnTo>
                  <a:lnTo>
                    <a:pt x="420000" y="252000"/>
                  </a:lnTo>
                  <a:lnTo>
                    <a:pt x="84000" y="252000"/>
                  </a:lnTo>
                  <a:lnTo>
                    <a:pt x="84000" y="336000"/>
                  </a:lnTo>
                  <a:lnTo>
                    <a:pt x="420000" y="336000"/>
                  </a:lnTo>
                  <a:lnTo>
                    <a:pt x="420000" y="420000"/>
                  </a:lnTo>
                  <a:lnTo>
                    <a:pt x="0" y="420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 rot="16200000">
              <a:off x="9947128" y="3522120"/>
              <a:ext cx="420000" cy="420000"/>
            </a:xfrm>
            <a:custGeom>
              <a:avLst/>
              <a:gdLst/>
              <a:ahLst/>
              <a:cxnLst/>
              <a:rect l="l" t="t" r="r" b="b"/>
              <a:pathLst>
                <a:path w="420000" h="420000">
                  <a:moveTo>
                    <a:pt x="0" y="0"/>
                  </a:moveTo>
                  <a:lnTo>
                    <a:pt x="420000" y="0"/>
                  </a:lnTo>
                  <a:lnTo>
                    <a:pt x="420000" y="84000"/>
                  </a:lnTo>
                  <a:lnTo>
                    <a:pt x="84000" y="84000"/>
                  </a:lnTo>
                  <a:lnTo>
                    <a:pt x="84000" y="168000"/>
                  </a:lnTo>
                  <a:lnTo>
                    <a:pt x="420000" y="168000"/>
                  </a:lnTo>
                  <a:lnTo>
                    <a:pt x="420000" y="252000"/>
                  </a:lnTo>
                  <a:lnTo>
                    <a:pt x="84000" y="252000"/>
                  </a:lnTo>
                  <a:lnTo>
                    <a:pt x="84000" y="336000"/>
                  </a:lnTo>
                  <a:lnTo>
                    <a:pt x="420000" y="336000"/>
                  </a:lnTo>
                  <a:lnTo>
                    <a:pt x="420000" y="420000"/>
                  </a:lnTo>
                  <a:lnTo>
                    <a:pt x="0" y="420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reeform 49"/>
            <p:cNvSpPr/>
            <p:nvPr/>
          </p:nvSpPr>
          <p:spPr>
            <a:xfrm rot="10800000">
              <a:off x="10965718" y="3522120"/>
              <a:ext cx="420000" cy="420000"/>
            </a:xfrm>
            <a:custGeom>
              <a:avLst/>
              <a:gdLst/>
              <a:ahLst/>
              <a:cxnLst/>
              <a:rect l="l" t="t" r="r" b="b"/>
              <a:pathLst>
                <a:path w="420000" h="420000">
                  <a:moveTo>
                    <a:pt x="0" y="0"/>
                  </a:moveTo>
                  <a:lnTo>
                    <a:pt x="420000" y="0"/>
                  </a:lnTo>
                  <a:lnTo>
                    <a:pt x="420000" y="84000"/>
                  </a:lnTo>
                  <a:lnTo>
                    <a:pt x="84000" y="84000"/>
                  </a:lnTo>
                  <a:lnTo>
                    <a:pt x="84000" y="168000"/>
                  </a:lnTo>
                  <a:lnTo>
                    <a:pt x="420000" y="168000"/>
                  </a:lnTo>
                  <a:lnTo>
                    <a:pt x="420000" y="252000"/>
                  </a:lnTo>
                  <a:lnTo>
                    <a:pt x="84000" y="252000"/>
                  </a:lnTo>
                  <a:lnTo>
                    <a:pt x="84000" y="336000"/>
                  </a:lnTo>
                  <a:lnTo>
                    <a:pt x="420000" y="336000"/>
                  </a:lnTo>
                  <a:lnTo>
                    <a:pt x="420000" y="420000"/>
                  </a:lnTo>
                  <a:lnTo>
                    <a:pt x="0" y="420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682788" y="4565000"/>
              <a:ext cx="3930092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819948" y="4610720"/>
              <a:ext cx="3655772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Girar no sentido horário leva à alternativa e).</a:t>
              </a:r>
            </a:p>
          </p:txBody>
        </p:sp>
      </p:grpSp>
      <p:sp>
        <p:nvSpPr>
          <p:cNvPr id="53" name="Giro 1"/>
          <p:cNvSpPr/>
          <p:nvPr/>
        </p:nvSpPr>
        <p:spPr>
          <a:xfrm rot="10800000">
            <a:off x="2452198" y="4589604"/>
            <a:ext cx="600000" cy="600000"/>
          </a:xfrm>
          <a:custGeom>
            <a:avLst/>
            <a:gdLst/>
            <a:ahLst/>
            <a:cxnLst/>
            <a:rect l="l" t="t" r="r" b="b"/>
            <a:pathLst>
              <a:path w="600000" h="600000">
                <a:moveTo>
                  <a:pt x="0" y="0"/>
                </a:moveTo>
                <a:lnTo>
                  <a:pt x="600000" y="0"/>
                </a:lnTo>
                <a:lnTo>
                  <a:pt x="600000" y="120000"/>
                </a:lnTo>
                <a:lnTo>
                  <a:pt x="120000" y="120000"/>
                </a:lnTo>
                <a:lnTo>
                  <a:pt x="120000" y="240000"/>
                </a:lnTo>
                <a:lnTo>
                  <a:pt x="600000" y="240000"/>
                </a:lnTo>
                <a:lnTo>
                  <a:pt x="600000" y="360000"/>
                </a:lnTo>
                <a:lnTo>
                  <a:pt x="120000" y="360000"/>
                </a:lnTo>
                <a:lnTo>
                  <a:pt x="120000" y="480000"/>
                </a:lnTo>
                <a:lnTo>
                  <a:pt x="600000" y="480000"/>
                </a:lnTo>
                <a:lnTo>
                  <a:pt x="600000" y="600000"/>
                </a:lnTo>
                <a:lnTo>
                  <a:pt x="0" y="600000"/>
                </a:lnTo>
                <a:close/>
              </a:path>
            </a:pathLst>
          </a:cu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iro 2"/>
          <p:cNvSpPr/>
          <p:nvPr/>
        </p:nvSpPr>
        <p:spPr>
          <a:xfrm rot="5400000">
            <a:off x="3756435" y="4589604"/>
            <a:ext cx="600000" cy="600000"/>
          </a:xfrm>
          <a:custGeom>
            <a:avLst/>
            <a:gdLst/>
            <a:ahLst/>
            <a:cxnLst/>
            <a:rect l="l" t="t" r="r" b="b"/>
            <a:pathLst>
              <a:path w="600000" h="600000">
                <a:moveTo>
                  <a:pt x="0" y="0"/>
                </a:moveTo>
                <a:lnTo>
                  <a:pt x="600000" y="0"/>
                </a:lnTo>
                <a:lnTo>
                  <a:pt x="600000" y="120000"/>
                </a:lnTo>
                <a:lnTo>
                  <a:pt x="120000" y="120000"/>
                </a:lnTo>
                <a:lnTo>
                  <a:pt x="120000" y="240000"/>
                </a:lnTo>
                <a:lnTo>
                  <a:pt x="600000" y="240000"/>
                </a:lnTo>
                <a:lnTo>
                  <a:pt x="600000" y="360000"/>
                </a:lnTo>
                <a:lnTo>
                  <a:pt x="120000" y="360000"/>
                </a:lnTo>
                <a:lnTo>
                  <a:pt x="120000" y="480000"/>
                </a:lnTo>
                <a:lnTo>
                  <a:pt x="600000" y="480000"/>
                </a:lnTo>
                <a:lnTo>
                  <a:pt x="600000" y="600000"/>
                </a:lnTo>
                <a:lnTo>
                  <a:pt x="0" y="600000"/>
                </a:lnTo>
                <a:close/>
              </a:path>
            </a:pathLst>
          </a:cu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iro 3"/>
          <p:cNvSpPr/>
          <p:nvPr/>
        </p:nvSpPr>
        <p:spPr>
          <a:xfrm>
            <a:off x="5060672" y="4589604"/>
            <a:ext cx="600000" cy="600000"/>
          </a:xfrm>
          <a:custGeom>
            <a:avLst/>
            <a:gdLst/>
            <a:ahLst/>
            <a:cxnLst/>
            <a:rect l="l" t="t" r="r" b="b"/>
            <a:pathLst>
              <a:path w="600000" h="600000">
                <a:moveTo>
                  <a:pt x="0" y="0"/>
                </a:moveTo>
                <a:lnTo>
                  <a:pt x="600000" y="0"/>
                </a:lnTo>
                <a:lnTo>
                  <a:pt x="600000" y="120000"/>
                </a:lnTo>
                <a:lnTo>
                  <a:pt x="120000" y="120000"/>
                </a:lnTo>
                <a:lnTo>
                  <a:pt x="120000" y="240000"/>
                </a:lnTo>
                <a:lnTo>
                  <a:pt x="600000" y="240000"/>
                </a:lnTo>
                <a:lnTo>
                  <a:pt x="600000" y="360000"/>
                </a:lnTo>
                <a:lnTo>
                  <a:pt x="120000" y="360000"/>
                </a:lnTo>
                <a:lnTo>
                  <a:pt x="120000" y="480000"/>
                </a:lnTo>
                <a:lnTo>
                  <a:pt x="600000" y="480000"/>
                </a:lnTo>
                <a:lnTo>
                  <a:pt x="600000" y="600000"/>
                </a:lnTo>
                <a:lnTo>
                  <a:pt x="0" y="600000"/>
                </a:lnTo>
                <a:close/>
              </a:path>
            </a:pathLst>
          </a:cu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iro 4"/>
          <p:cNvSpPr/>
          <p:nvPr/>
        </p:nvSpPr>
        <p:spPr>
          <a:xfrm rot="16200000">
            <a:off x="6364909" y="4589604"/>
            <a:ext cx="600000" cy="600000"/>
          </a:xfrm>
          <a:custGeom>
            <a:avLst/>
            <a:gdLst/>
            <a:ahLst/>
            <a:cxnLst/>
            <a:rect l="l" t="t" r="r" b="b"/>
            <a:pathLst>
              <a:path w="600000" h="600000">
                <a:moveTo>
                  <a:pt x="0" y="0"/>
                </a:moveTo>
                <a:lnTo>
                  <a:pt x="600000" y="0"/>
                </a:lnTo>
                <a:lnTo>
                  <a:pt x="600000" y="120000"/>
                </a:lnTo>
                <a:lnTo>
                  <a:pt x="120000" y="120000"/>
                </a:lnTo>
                <a:lnTo>
                  <a:pt x="120000" y="240000"/>
                </a:lnTo>
                <a:lnTo>
                  <a:pt x="600000" y="240000"/>
                </a:lnTo>
                <a:lnTo>
                  <a:pt x="600000" y="360000"/>
                </a:lnTo>
                <a:lnTo>
                  <a:pt x="120000" y="360000"/>
                </a:lnTo>
                <a:lnTo>
                  <a:pt x="120000" y="480000"/>
                </a:lnTo>
                <a:lnTo>
                  <a:pt x="600000" y="480000"/>
                </a:lnTo>
                <a:lnTo>
                  <a:pt x="600000" y="600000"/>
                </a:lnTo>
                <a:lnTo>
                  <a:pt x="0" y="600000"/>
                </a:lnTo>
                <a:close/>
              </a:path>
            </a:pathLst>
          </a:cu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13" dur="12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21" dur="12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29" dur="12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37" dur="12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/>
          <p:nvPr/>
        </p:nvSpPr>
        <p:spPr>
          <a:xfrm>
            <a:off x="548640" y="292608"/>
            <a:ext cx="4920000" cy="512064"/>
          </a:xfrm>
          <a:prstGeom prst="roundRect">
            <a:avLst>
              <a:gd name="adj" fmla="val 25000"/>
            </a:avLst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Questão 81 · Simetria no plano</a:t>
            </a:r>
          </a:p>
        </p:txBody>
      </p:sp>
      <p:sp>
        <p:nvSpPr>
          <p:cNvPr id="3" name="Alt a"/>
          <p:cNvSpPr/>
          <p:nvPr/>
        </p:nvSpPr>
        <p:spPr>
          <a:xfrm>
            <a:off x="54864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0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(25, 60).</a:t>
            </a:r>
          </a:p>
        </p:txBody>
      </p:sp>
      <p:sp>
        <p:nvSpPr>
          <p:cNvPr id="6" name="Alt b"/>
          <p:cNvSpPr/>
          <p:nvPr/>
        </p:nvSpPr>
        <p:spPr>
          <a:xfrm>
            <a:off x="278892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8036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08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(60, 25).</a:t>
            </a:r>
          </a:p>
        </p:txBody>
      </p:sp>
      <p:sp>
        <p:nvSpPr>
          <p:cNvPr id="9" name="Alt c"/>
          <p:cNvSpPr/>
          <p:nvPr/>
        </p:nvSpPr>
        <p:spPr>
          <a:xfrm>
            <a:off x="502920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636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(25, −60).</a:t>
            </a:r>
          </a:p>
        </p:txBody>
      </p:sp>
      <p:sp>
        <p:nvSpPr>
          <p:cNvPr id="12" name="Alt d"/>
          <p:cNvSpPr/>
          <p:nvPr/>
        </p:nvSpPr>
        <p:spPr>
          <a:xfrm>
            <a:off x="726948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6092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664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(60, −25).</a:t>
            </a:r>
          </a:p>
        </p:txBody>
      </p:sp>
      <p:sp>
        <p:nvSpPr>
          <p:cNvPr id="15" name="Alt e"/>
          <p:cNvSpPr/>
          <p:nvPr/>
        </p:nvSpPr>
        <p:spPr>
          <a:xfrm>
            <a:off x="9509760" y="5195000"/>
            <a:ext cx="2103120" cy="5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265000"/>
            <a:ext cx="380000" cy="380000"/>
          </a:xfrm>
          <a:prstGeom prst="ellipse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6920" y="5195000"/>
            <a:ext cx="1540240" cy="520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(−25, 60).</a:t>
            </a:r>
          </a:p>
        </p:txBody>
      </p:sp>
      <p:sp>
        <p:nvSpPr>
          <p:cNvPr id="18" name="Enunciado"/>
          <p:cNvSpPr txBox="1"/>
          <p:nvPr/>
        </p:nvSpPr>
        <p:spPr>
          <a:xfrm>
            <a:off x="548640" y="1005840"/>
            <a:ext cx="7081113" cy="4006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No softbol, os jogadores da última linha de defesa são chamados de “jardineiros” devido à área que ocupam durante o jogo, que é normalmente chamada de jardim externo. A imagem apresenta o desenho de um campo desse esporte com todas as posições dos jogadores indicadas.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Considere um sistema cartesiano com origem na posição do apanhador e com eixos orientados para evidenciar a simetria bilateral do formato do campo e das posições dos jogadores.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3B41"/>
                </a:solidFill>
                <a:latin typeface="Calibri"/>
              </a:rPr>
              <a:t>Sabendo que os eixos estão cotados em metro e que a posição do jardineiro direito está no primeiro quadrante a 25 m do eixo das ordenadas e 60 m do eixo das abscissas, as coordenadas do jardineiro esquerdo são</a:t>
            </a:r>
          </a:p>
        </p:txBody>
      </p:sp>
      <p:pic>
        <p:nvPicPr>
          <p:cNvPr id="19" name="Picture 18" descr="q81_ca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328" y="1005840"/>
            <a:ext cx="2770576" cy="4006280"/>
          </a:xfrm>
          <a:prstGeom prst="rect">
            <a:avLst/>
          </a:prstGeom>
        </p:spPr>
      </p:pic>
      <p:grpSp>
        <p:nvGrpSpPr>
          <p:cNvPr id="20" name="Resolução"/>
          <p:cNvGrpSpPr/>
          <p:nvPr/>
        </p:nvGrpSpPr>
        <p:grpSpPr>
          <a:xfrm>
            <a:off x="411480" y="292608"/>
            <a:ext cx="11338560" cy="5468112"/>
            <a:chOff x="411480" y="292608"/>
            <a:chExt cx="11338560" cy="5468112"/>
          </a:xfrm>
        </p:grpSpPr>
        <p:sp>
          <p:nvSpPr>
            <p:cNvPr id="21" name="Rectangle 20"/>
            <p:cNvSpPr/>
            <p:nvPr/>
          </p:nvSpPr>
          <p:spPr>
            <a:xfrm>
              <a:off x="411480" y="914400"/>
              <a:ext cx="11338560" cy="48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605800" y="292608"/>
              <a:ext cx="1900000" cy="512064"/>
            </a:xfrm>
            <a:prstGeom prst="roundRect">
              <a:avLst>
                <a:gd name="adj" fmla="val 25000"/>
              </a:avLst>
            </a:prstGeom>
            <a:solidFill>
              <a:srgbClr val="E2F3F3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019598"/>
                  </a:solidFill>
                  <a:latin typeface="Calibri"/>
                </a:rPr>
                <a:t>Resolução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8640" y="1005840"/>
              <a:ext cx="6417259" cy="720000"/>
            </a:xfrm>
            <a:prstGeom prst="rect">
              <a:avLst/>
            </a:prstGeom>
            <a:solidFill>
              <a:srgbClr val="E2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5800" y="1033272"/>
              <a:ext cx="6142939" cy="665136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700" b="1">
                  <a:solidFill>
                    <a:srgbClr val="2E3B41"/>
                  </a:solidFill>
                  <a:latin typeface="Calibri"/>
                </a:rPr>
                <a:t>Para discutir:</a:t>
              </a:r>
              <a:r>
                <a:rPr sz="1700" b="0">
                  <a:solidFill>
                    <a:srgbClr val="2E3B41"/>
                  </a:solidFill>
                  <a:latin typeface="Calibri"/>
                </a:rPr>
                <a:t> Qual é o eixo de simetria do campo? O que muda num ponto refletido nesse eixo?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1908720"/>
              <a:ext cx="6417259" cy="38062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" y="1908720"/>
              <a:ext cx="6417259" cy="384048"/>
            </a:xfrm>
            <a:prstGeom prst="rect">
              <a:avLst/>
            </a:prstGeom>
            <a:solidFill>
              <a:srgbClr val="019598"/>
            </a:solidFill>
            <a:ln w="15875">
              <a:solidFill>
                <a:srgbClr val="01959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37160"/>
            <a:lstStyle/>
            <a:p>
              <a:pPr algn="l"/>
              <a:r>
                <a:rPr sz="1500" b="1">
                  <a:solidFill>
                    <a:srgbClr val="FFFFFF"/>
                  </a:solidFill>
                  <a:latin typeface="Calibri"/>
                </a:rPr>
                <a:t>Passo a passo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5800" y="2384208"/>
              <a:ext cx="6142939" cy="3285072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1.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Jardineiro direito: (25, 60), no 1º quadrante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2.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Reflexão no eixo y: o x troca de sinal e o y se mantém</a:t>
              </a:r>
            </a:p>
            <a:p>
              <a:pPr algn="l">
                <a:spcAft>
                  <a:spcPts val="1400"/>
                </a:spcAft>
              </a:pPr>
              <a:r>
                <a:rPr sz="2400" b="1">
                  <a:solidFill>
                    <a:srgbClr val="2E3B41"/>
                  </a:solidFill>
                  <a:latin typeface="Calibri"/>
                </a:rPr>
                <a:t>3.</a:t>
              </a:r>
              <a:r>
                <a:rPr sz="2400" b="0">
                  <a:solidFill>
                    <a:srgbClr val="2E3B41"/>
                  </a:solidFill>
                  <a:latin typeface="Calibri"/>
                </a:rPr>
                <a:t> (25, 60)  →  </a:t>
              </a:r>
              <a:r>
                <a:rPr sz="2400" b="1">
                  <a:solidFill>
                    <a:srgbClr val="2E3B41"/>
                  </a:solidFill>
                  <a:latin typeface="Calibri"/>
                </a:rPr>
                <a:t>(−25, 60)</a:t>
              </a:r>
            </a:p>
          </p:txBody>
        </p:sp>
        <p:sp>
          <p:nvSpPr>
            <p:cNvPr id="28" name="Resposta"/>
            <p:cNvSpPr/>
            <p:nvPr/>
          </p:nvSpPr>
          <p:spPr>
            <a:xfrm>
              <a:off x="7240219" y="1005840"/>
              <a:ext cx="4372661" cy="3376280"/>
            </a:xfrm>
            <a:prstGeom prst="rect">
              <a:avLst/>
            </a:prstGeom>
            <a:solidFill>
              <a:srgbClr val="019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77379" y="1060704"/>
              <a:ext cx="4098341" cy="30000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RESPOSTA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77379" y="1345840"/>
              <a:ext cx="4098341" cy="2976280"/>
            </a:xfrm>
            <a:prstGeom prst="rect">
              <a:avLst/>
            </a:prstGeom>
            <a:noFill/>
          </p:spPr>
          <p:txBody>
            <a:bodyPr wrap="square" anchor="ctr" lIns="45720" rIns="45720" tIns="27432" bIns="27432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4000" b="1">
                  <a:solidFill>
                    <a:srgbClr val="FFFFFF"/>
                  </a:solidFill>
                  <a:latin typeface="Calibri"/>
                </a:rPr>
                <a:t>e)  (−25, 60)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40219" y="4565000"/>
              <a:ext cx="4372661" cy="1150000"/>
            </a:xfrm>
            <a:prstGeom prst="rect">
              <a:avLst/>
            </a:prstGeom>
            <a:solidFill>
              <a:srgbClr val="FDF1EC"/>
            </a:solidFill>
            <a:ln w="15875">
              <a:solidFill>
                <a:srgbClr val="D9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77379" y="4610720"/>
              <a:ext cx="4098341" cy="1058560"/>
            </a:xfrm>
            <a:prstGeom prst="rect">
              <a:avLst/>
            </a:prstGeom>
            <a:noFill/>
          </p:spPr>
          <p:txBody>
            <a:bodyPr wrap="square" anchor="t" lIns="45720" rIns="45720" tIns="27432" bIns="27432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500" b="1">
                  <a:solidFill>
                    <a:srgbClr val="2E3B41"/>
                  </a:solidFill>
                  <a:latin typeface="Calibri"/>
                </a:rPr>
                <a:t>⚠ Cuidado</a:t>
              </a:r>
            </a:p>
            <a:p>
              <a:pPr algn="l">
                <a:spcAft>
                  <a:spcPts val="400"/>
                </a:spcAft>
              </a:pPr>
              <a:r>
                <a:rPr sz="1500" b="0">
                  <a:solidFill>
                    <a:srgbClr val="2E3B41"/>
                  </a:solidFill>
                  <a:latin typeface="Calibri"/>
                </a:rPr>
                <a:t>Inverter a ordem das coordenadas: (60, 25) ou (60, −25).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6583680" cy="100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2E3B41"/>
                </a:solidFill>
                <a:latin typeface="Calibri"/>
              </a:rPr>
              <a:t>Agora é com vocês!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40280"/>
            <a:ext cx="6583680" cy="130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F6B70"/>
                </a:solidFill>
                <a:latin typeface="Calibri"/>
              </a:rPr>
              <a:t>Revisem com a </a:t>
            </a:r>
            <a:r>
              <a:rPr sz="1800" b="1">
                <a:solidFill>
                  <a:srgbClr val="5F6B70"/>
                </a:solidFill>
                <a:latin typeface="Calibri"/>
              </a:rPr>
              <a:t>Lista 15 – Revisão</a:t>
            </a:r>
            <a:r>
              <a:rPr sz="1800" b="0">
                <a:solidFill>
                  <a:srgbClr val="5F6B70"/>
                </a:solidFill>
                <a:latin typeface="Calibri"/>
              </a:rPr>
              <a:t>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5F6B70"/>
                </a:solidFill>
                <a:latin typeface="Calibri"/>
              </a:rPr>
              <a:t>8 questões de exponencial, P.A., equação modular, transformações e estatística, no mesmo estilo do simulado.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931920"/>
            <a:ext cx="6035040" cy="914400"/>
          </a:xfrm>
          <a:prstGeom prst="rect">
            <a:avLst/>
          </a:prstGeom>
          <a:solidFill>
            <a:srgbClr val="E2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50208"/>
            <a:ext cx="576072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E3B41"/>
                </a:solidFill>
                <a:latin typeface="Calibri"/>
              </a:rPr>
              <a:t>Antes de marcar:</a:t>
            </a:r>
            <a:r>
              <a:rPr sz="1600" b="0">
                <a:solidFill>
                  <a:srgbClr val="2E3B41"/>
                </a:solidFill>
                <a:latin typeface="Calibri"/>
              </a:rPr>
              <a:t> releia o que a pergunta pede (qual mês? qual medição?) e teste a resposta no enunciado.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822960"/>
            <a:ext cx="4023360" cy="4892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1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0" y="822960"/>
            <a:ext cx="4023360" cy="384048"/>
          </a:xfrm>
          <a:prstGeom prst="rect">
            <a:avLst/>
          </a:prstGeom>
          <a:solidFill>
            <a:srgbClr val="019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Apresentação e lista no site</a:t>
            </a:r>
          </a:p>
        </p:txBody>
      </p:sp>
      <p:pic>
        <p:nvPicPr>
          <p:cNvPr id="8" name="Picture 7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325880"/>
            <a:ext cx="3017520" cy="3017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35240" y="443484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E3B41"/>
                </a:solidFill>
                <a:latin typeface="Calibri"/>
              </a:rPr>
              <a:t>Aponte a câmera do celular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846320"/>
            <a:ext cx="3931920" cy="60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19598"/>
                </a:solidFill>
                <a:latin typeface="Calibri"/>
              </a:rPr>
              <a:t>grupo-foco.github.io/Listas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1957</TotalTime>
  <Words>1830</Words>
  <Application>Microsoft Macintosh PowerPoint</Application>
  <PresentationFormat>Widescreen</PresentationFormat>
  <Paragraphs>179</Paragraphs>
  <Slides>17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rodolfo cavalcante</dc:creator>
  <cp:lastModifiedBy>rodolfo cavalcante</cp:lastModifiedBy>
  <cp:revision>46</cp:revision>
  <dcterms:created xsi:type="dcterms:W3CDTF">2023-04-23T12:43:54Z</dcterms:created>
  <dcterms:modified xsi:type="dcterms:W3CDTF">2026-10-06T02:19:43Z</dcterms:modified>
</cp:coreProperties>
</file>